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56" r:id="rId2"/>
    <p:sldId id="258" r:id="rId3"/>
    <p:sldId id="282" r:id="rId4"/>
    <p:sldId id="264" r:id="rId5"/>
    <p:sldId id="263" r:id="rId6"/>
    <p:sldId id="273" r:id="rId7"/>
    <p:sldId id="272" r:id="rId8"/>
    <p:sldId id="291" r:id="rId9"/>
    <p:sldId id="262" r:id="rId10"/>
    <p:sldId id="261" r:id="rId11"/>
    <p:sldId id="260" r:id="rId12"/>
    <p:sldId id="259" r:id="rId13"/>
    <p:sldId id="266" r:id="rId14"/>
    <p:sldId id="275" r:id="rId15"/>
    <p:sldId id="283" r:id="rId16"/>
    <p:sldId id="267" r:id="rId17"/>
    <p:sldId id="284" r:id="rId18"/>
    <p:sldId id="285" r:id="rId19"/>
    <p:sldId id="287" r:id="rId20"/>
    <p:sldId id="279" r:id="rId21"/>
    <p:sldId id="288" r:id="rId22"/>
    <p:sldId id="269" r:id="rId23"/>
    <p:sldId id="289" r:id="rId24"/>
    <p:sldId id="270" r:id="rId25"/>
    <p:sldId id="290" r:id="rId26"/>
    <p:sldId id="265" r:id="rId27"/>
    <p:sldId id="292" r:id="rId28"/>
    <p:sldId id="293" r:id="rId29"/>
    <p:sldId id="294"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196" autoAdjust="0"/>
  </p:normalViewPr>
  <p:slideViewPr>
    <p:cSldViewPr snapToGrid="0">
      <p:cViewPr varScale="1">
        <p:scale>
          <a:sx n="78" d="100"/>
          <a:sy n="78" d="100"/>
        </p:scale>
        <p:origin x="1622"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0B0672-1B94-4A60-842A-DF9F0BF0CC8B}" type="datetimeFigureOut">
              <a:rPr lang="en-IN" smtClean="0"/>
              <a:t>03-04-2025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747B17-79FE-4478-A310-1A2505B9FEF6}" type="slidenum">
              <a:rPr lang="en-IN" smtClean="0"/>
              <a:t>‹#›</a:t>
            </a:fld>
            <a:endParaRPr lang="en-IN"/>
          </a:p>
        </p:txBody>
      </p:sp>
    </p:spTree>
    <p:extLst>
      <p:ext uri="{BB962C8B-B14F-4D97-AF65-F5344CB8AC3E}">
        <p14:creationId xmlns:p14="http://schemas.microsoft.com/office/powerpoint/2010/main" val="3866276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747B17-79FE-4478-A310-1A2505B9FEF6}" type="slidenum">
              <a:rPr lang="en-IN" smtClean="0"/>
              <a:t>3</a:t>
            </a:fld>
            <a:endParaRPr lang="en-IN"/>
          </a:p>
        </p:txBody>
      </p:sp>
    </p:spTree>
    <p:extLst>
      <p:ext uri="{BB962C8B-B14F-4D97-AF65-F5344CB8AC3E}">
        <p14:creationId xmlns:p14="http://schemas.microsoft.com/office/powerpoint/2010/main" val="21392836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747B17-79FE-4478-A310-1A2505B9FEF6}" type="slidenum">
              <a:rPr lang="en-IN" smtClean="0"/>
              <a:t>5</a:t>
            </a:fld>
            <a:endParaRPr lang="en-IN"/>
          </a:p>
        </p:txBody>
      </p:sp>
    </p:spTree>
    <p:extLst>
      <p:ext uri="{BB962C8B-B14F-4D97-AF65-F5344CB8AC3E}">
        <p14:creationId xmlns:p14="http://schemas.microsoft.com/office/powerpoint/2010/main" val="3978023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747B17-79FE-4478-A310-1A2505B9FEF6}" type="slidenum">
              <a:rPr lang="en-IN" smtClean="0"/>
              <a:t>6</a:t>
            </a:fld>
            <a:endParaRPr lang="en-IN"/>
          </a:p>
        </p:txBody>
      </p:sp>
    </p:spTree>
    <p:extLst>
      <p:ext uri="{BB962C8B-B14F-4D97-AF65-F5344CB8AC3E}">
        <p14:creationId xmlns:p14="http://schemas.microsoft.com/office/powerpoint/2010/main" val="38418614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747B17-79FE-4478-A310-1A2505B9FEF6}" type="slidenum">
              <a:rPr lang="en-IN" smtClean="0"/>
              <a:t>22</a:t>
            </a:fld>
            <a:endParaRPr lang="en-IN"/>
          </a:p>
        </p:txBody>
      </p:sp>
    </p:spTree>
    <p:extLst>
      <p:ext uri="{BB962C8B-B14F-4D97-AF65-F5344CB8AC3E}">
        <p14:creationId xmlns:p14="http://schemas.microsoft.com/office/powerpoint/2010/main" val="1304764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42D1F1C-6F0B-4DAF-92B2-BE1726B9581A}" type="datetime1">
              <a:rPr lang="en-IN" smtClean="0"/>
              <a:t>03-04-2025</a:t>
            </a:fld>
            <a:endParaRPr lang="en-IN"/>
          </a:p>
        </p:txBody>
      </p:sp>
      <p:sp>
        <p:nvSpPr>
          <p:cNvPr id="5" name="Footer Placeholder 4"/>
          <p:cNvSpPr>
            <a:spLocks noGrp="1"/>
          </p:cNvSpPr>
          <p:nvPr>
            <p:ph type="ftr" sz="quarter" idx="11"/>
          </p:nvPr>
        </p:nvSpPr>
        <p:spPr/>
        <p:txBody>
          <a:bodyPr/>
          <a:lstStyle/>
          <a:p>
            <a:r>
              <a:rPr lang="en-IN"/>
              <a:t>Leveraging Deep Learning for Intelligent Driver Behavior Analysis for Road Safety</a:t>
            </a:r>
          </a:p>
        </p:txBody>
      </p:sp>
      <p:sp>
        <p:nvSpPr>
          <p:cNvPr id="6" name="Slide Number Placeholder 5"/>
          <p:cNvSpPr>
            <a:spLocks noGrp="1"/>
          </p:cNvSpPr>
          <p:nvPr>
            <p:ph type="sldNum" sz="quarter" idx="12"/>
          </p:nvPr>
        </p:nvSpPr>
        <p:spPr/>
        <p:txBody>
          <a:bodyPr/>
          <a:lstStyle/>
          <a:p>
            <a:fld id="{9D3FF152-60F5-4862-82F9-1190556AA56F}" type="slidenum">
              <a:rPr lang="en-IN" smtClean="0"/>
              <a:t>‹#›</a:t>
            </a:fld>
            <a:endParaRPr lang="en-IN"/>
          </a:p>
        </p:txBody>
      </p:sp>
    </p:spTree>
    <p:extLst>
      <p:ext uri="{BB962C8B-B14F-4D97-AF65-F5344CB8AC3E}">
        <p14:creationId xmlns:p14="http://schemas.microsoft.com/office/powerpoint/2010/main" val="518413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BA71E3-6EBA-4805-9ACD-CB7099906DB8}" type="datetime1">
              <a:rPr lang="en-IN" smtClean="0"/>
              <a:t>03-04-2025</a:t>
            </a:fld>
            <a:endParaRPr lang="en-IN"/>
          </a:p>
        </p:txBody>
      </p:sp>
      <p:sp>
        <p:nvSpPr>
          <p:cNvPr id="5" name="Footer Placeholder 4"/>
          <p:cNvSpPr>
            <a:spLocks noGrp="1"/>
          </p:cNvSpPr>
          <p:nvPr>
            <p:ph type="ftr" sz="quarter" idx="11"/>
          </p:nvPr>
        </p:nvSpPr>
        <p:spPr/>
        <p:txBody>
          <a:bodyPr/>
          <a:lstStyle/>
          <a:p>
            <a:r>
              <a:rPr lang="en-IN"/>
              <a:t>Leveraging Deep Learning for Intelligent Driver Behavior Analysis for Road Safety</a:t>
            </a:r>
          </a:p>
        </p:txBody>
      </p:sp>
      <p:sp>
        <p:nvSpPr>
          <p:cNvPr id="6" name="Slide Number Placeholder 5"/>
          <p:cNvSpPr>
            <a:spLocks noGrp="1"/>
          </p:cNvSpPr>
          <p:nvPr>
            <p:ph type="sldNum" sz="quarter" idx="12"/>
          </p:nvPr>
        </p:nvSpPr>
        <p:spPr/>
        <p:txBody>
          <a:bodyPr/>
          <a:lstStyle/>
          <a:p>
            <a:fld id="{9D3FF152-60F5-4862-82F9-1190556AA56F}" type="slidenum">
              <a:rPr lang="en-IN" smtClean="0"/>
              <a:t>‹#›</a:t>
            </a:fld>
            <a:endParaRPr lang="en-IN"/>
          </a:p>
        </p:txBody>
      </p:sp>
    </p:spTree>
    <p:extLst>
      <p:ext uri="{BB962C8B-B14F-4D97-AF65-F5344CB8AC3E}">
        <p14:creationId xmlns:p14="http://schemas.microsoft.com/office/powerpoint/2010/main" val="3376643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0D91AA7-43AE-4145-B836-8A3430A21AF4}" type="datetime1">
              <a:rPr lang="en-IN" smtClean="0"/>
              <a:t>03-04-2025</a:t>
            </a:fld>
            <a:endParaRPr lang="en-IN"/>
          </a:p>
        </p:txBody>
      </p:sp>
      <p:sp>
        <p:nvSpPr>
          <p:cNvPr id="5" name="Footer Placeholder 4"/>
          <p:cNvSpPr>
            <a:spLocks noGrp="1"/>
          </p:cNvSpPr>
          <p:nvPr>
            <p:ph type="ftr" sz="quarter" idx="11"/>
          </p:nvPr>
        </p:nvSpPr>
        <p:spPr/>
        <p:txBody>
          <a:bodyPr/>
          <a:lstStyle/>
          <a:p>
            <a:r>
              <a:rPr lang="en-IN"/>
              <a:t>Leveraging Deep Learning for Intelligent Driver Behavior Analysis for Road Safety</a:t>
            </a:r>
          </a:p>
        </p:txBody>
      </p:sp>
      <p:sp>
        <p:nvSpPr>
          <p:cNvPr id="6" name="Slide Number Placeholder 5"/>
          <p:cNvSpPr>
            <a:spLocks noGrp="1"/>
          </p:cNvSpPr>
          <p:nvPr>
            <p:ph type="sldNum" sz="quarter" idx="12"/>
          </p:nvPr>
        </p:nvSpPr>
        <p:spPr/>
        <p:txBody>
          <a:bodyPr/>
          <a:lstStyle/>
          <a:p>
            <a:fld id="{9D3FF152-60F5-4862-82F9-1190556AA56F}" type="slidenum">
              <a:rPr lang="en-IN" smtClean="0"/>
              <a:t>‹#›</a:t>
            </a:fld>
            <a:endParaRPr lang="en-IN"/>
          </a:p>
        </p:txBody>
      </p:sp>
    </p:spTree>
    <p:extLst>
      <p:ext uri="{BB962C8B-B14F-4D97-AF65-F5344CB8AC3E}">
        <p14:creationId xmlns:p14="http://schemas.microsoft.com/office/powerpoint/2010/main" val="2123058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8C4A5C9-AD4D-4C3C-B529-24DF3240D0D6}" type="datetime1">
              <a:rPr lang="en-IN" smtClean="0"/>
              <a:t>03-04-2025</a:t>
            </a:fld>
            <a:endParaRPr lang="en-IN"/>
          </a:p>
        </p:txBody>
      </p:sp>
      <p:sp>
        <p:nvSpPr>
          <p:cNvPr id="6" name="Footer Placeholder 5"/>
          <p:cNvSpPr>
            <a:spLocks noGrp="1"/>
          </p:cNvSpPr>
          <p:nvPr>
            <p:ph type="ftr" sz="quarter" idx="11"/>
          </p:nvPr>
        </p:nvSpPr>
        <p:spPr/>
        <p:txBody>
          <a:bodyPr/>
          <a:lstStyle/>
          <a:p>
            <a:r>
              <a:rPr lang="en-IN"/>
              <a:t>Leveraging Deep Learning for Intelligent Driver Behavior Analysis for Road Safety</a:t>
            </a:r>
          </a:p>
        </p:txBody>
      </p:sp>
      <p:sp>
        <p:nvSpPr>
          <p:cNvPr id="7" name="Slide Number Placeholder 6"/>
          <p:cNvSpPr>
            <a:spLocks noGrp="1"/>
          </p:cNvSpPr>
          <p:nvPr>
            <p:ph type="sldNum" sz="quarter" idx="12"/>
          </p:nvPr>
        </p:nvSpPr>
        <p:spPr/>
        <p:txBody>
          <a:bodyPr/>
          <a:lstStyle/>
          <a:p>
            <a:fld id="{9D3FF152-60F5-4862-82F9-1190556AA56F}" type="slidenum">
              <a:rPr lang="en-IN" smtClean="0"/>
              <a:t>‹#›</a:t>
            </a:fld>
            <a:endParaRPr lang="en-IN"/>
          </a:p>
        </p:txBody>
      </p:sp>
    </p:spTree>
    <p:extLst>
      <p:ext uri="{BB962C8B-B14F-4D97-AF65-F5344CB8AC3E}">
        <p14:creationId xmlns:p14="http://schemas.microsoft.com/office/powerpoint/2010/main" val="685019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4576590-3EB5-4408-9234-75EBAAC35FE8}" type="datetime1">
              <a:rPr lang="en-IN" smtClean="0"/>
              <a:t>03-04-2025</a:t>
            </a:fld>
            <a:endParaRPr lang="en-IN"/>
          </a:p>
        </p:txBody>
      </p:sp>
      <p:sp>
        <p:nvSpPr>
          <p:cNvPr id="8" name="Footer Placeholder 7"/>
          <p:cNvSpPr>
            <a:spLocks noGrp="1"/>
          </p:cNvSpPr>
          <p:nvPr>
            <p:ph type="ftr" sz="quarter" idx="11"/>
          </p:nvPr>
        </p:nvSpPr>
        <p:spPr/>
        <p:txBody>
          <a:bodyPr/>
          <a:lstStyle/>
          <a:p>
            <a:r>
              <a:rPr lang="en-IN"/>
              <a:t>Leveraging Deep Learning for Intelligent Driver Behavior Analysis for Road Safety</a:t>
            </a:r>
          </a:p>
        </p:txBody>
      </p:sp>
      <p:sp>
        <p:nvSpPr>
          <p:cNvPr id="9" name="Slide Number Placeholder 8"/>
          <p:cNvSpPr>
            <a:spLocks noGrp="1"/>
          </p:cNvSpPr>
          <p:nvPr>
            <p:ph type="sldNum" sz="quarter" idx="12"/>
          </p:nvPr>
        </p:nvSpPr>
        <p:spPr/>
        <p:txBody>
          <a:bodyPr/>
          <a:lstStyle/>
          <a:p>
            <a:fld id="{9D3FF152-60F5-4862-82F9-1190556AA56F}" type="slidenum">
              <a:rPr lang="en-IN" smtClean="0"/>
              <a:t>‹#›</a:t>
            </a:fld>
            <a:endParaRPr lang="en-IN"/>
          </a:p>
        </p:txBody>
      </p:sp>
    </p:spTree>
    <p:extLst>
      <p:ext uri="{BB962C8B-B14F-4D97-AF65-F5344CB8AC3E}">
        <p14:creationId xmlns:p14="http://schemas.microsoft.com/office/powerpoint/2010/main" val="4291154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A5FC54D-3A1C-4A80-A3A4-539B12EBA774}" type="datetime1">
              <a:rPr lang="en-IN" smtClean="0"/>
              <a:t>03-04-2025</a:t>
            </a:fld>
            <a:endParaRPr lang="en-IN"/>
          </a:p>
        </p:txBody>
      </p:sp>
      <p:sp>
        <p:nvSpPr>
          <p:cNvPr id="4" name="Footer Placeholder 3"/>
          <p:cNvSpPr>
            <a:spLocks noGrp="1"/>
          </p:cNvSpPr>
          <p:nvPr>
            <p:ph type="ftr" sz="quarter" idx="11"/>
          </p:nvPr>
        </p:nvSpPr>
        <p:spPr/>
        <p:txBody>
          <a:bodyPr/>
          <a:lstStyle/>
          <a:p>
            <a:r>
              <a:rPr lang="en-IN"/>
              <a:t>Leveraging Deep Learning for Intelligent Driver Behavior Analysis for Road Safety</a:t>
            </a:r>
          </a:p>
        </p:txBody>
      </p:sp>
      <p:sp>
        <p:nvSpPr>
          <p:cNvPr id="5" name="Slide Number Placeholder 4"/>
          <p:cNvSpPr>
            <a:spLocks noGrp="1"/>
          </p:cNvSpPr>
          <p:nvPr>
            <p:ph type="sldNum" sz="quarter" idx="12"/>
          </p:nvPr>
        </p:nvSpPr>
        <p:spPr/>
        <p:txBody>
          <a:bodyPr/>
          <a:lstStyle/>
          <a:p>
            <a:fld id="{9D3FF152-60F5-4862-82F9-1190556AA56F}" type="slidenum">
              <a:rPr lang="en-IN" smtClean="0"/>
              <a:t>‹#›</a:t>
            </a:fld>
            <a:endParaRPr lang="en-IN"/>
          </a:p>
        </p:txBody>
      </p:sp>
    </p:spTree>
    <p:extLst>
      <p:ext uri="{BB962C8B-B14F-4D97-AF65-F5344CB8AC3E}">
        <p14:creationId xmlns:p14="http://schemas.microsoft.com/office/powerpoint/2010/main" val="1431640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D0033E-291A-4DC3-BA7B-208C4854BE09}" type="datetime1">
              <a:rPr lang="en-IN" smtClean="0"/>
              <a:t>03-04-2025</a:t>
            </a:fld>
            <a:endParaRPr lang="en-IN"/>
          </a:p>
        </p:txBody>
      </p:sp>
      <p:sp>
        <p:nvSpPr>
          <p:cNvPr id="3" name="Footer Placeholder 2"/>
          <p:cNvSpPr>
            <a:spLocks noGrp="1"/>
          </p:cNvSpPr>
          <p:nvPr>
            <p:ph type="ftr" sz="quarter" idx="11"/>
          </p:nvPr>
        </p:nvSpPr>
        <p:spPr/>
        <p:txBody>
          <a:bodyPr/>
          <a:lstStyle/>
          <a:p>
            <a:r>
              <a:rPr lang="en-IN"/>
              <a:t>Leveraging Deep Learning for Intelligent Driver Behavior Analysis for Road Safety</a:t>
            </a:r>
          </a:p>
        </p:txBody>
      </p:sp>
      <p:sp>
        <p:nvSpPr>
          <p:cNvPr id="4" name="Slide Number Placeholder 3"/>
          <p:cNvSpPr>
            <a:spLocks noGrp="1"/>
          </p:cNvSpPr>
          <p:nvPr>
            <p:ph type="sldNum" sz="quarter" idx="12"/>
          </p:nvPr>
        </p:nvSpPr>
        <p:spPr/>
        <p:txBody>
          <a:bodyPr/>
          <a:lstStyle/>
          <a:p>
            <a:fld id="{9D3FF152-60F5-4862-82F9-1190556AA56F}" type="slidenum">
              <a:rPr lang="en-IN" smtClean="0"/>
              <a:t>‹#›</a:t>
            </a:fld>
            <a:endParaRPr lang="en-IN"/>
          </a:p>
        </p:txBody>
      </p:sp>
    </p:spTree>
    <p:extLst>
      <p:ext uri="{BB962C8B-B14F-4D97-AF65-F5344CB8AC3E}">
        <p14:creationId xmlns:p14="http://schemas.microsoft.com/office/powerpoint/2010/main" val="2271282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EF2D21-934A-4EE8-B693-4EE29178C87C}" type="datetime1">
              <a:rPr lang="en-IN" smtClean="0"/>
              <a:t>03-04-2025</a:t>
            </a:fld>
            <a:endParaRPr lang="en-IN"/>
          </a:p>
        </p:txBody>
      </p:sp>
      <p:sp>
        <p:nvSpPr>
          <p:cNvPr id="6" name="Footer Placeholder 5"/>
          <p:cNvSpPr>
            <a:spLocks noGrp="1"/>
          </p:cNvSpPr>
          <p:nvPr>
            <p:ph type="ftr" sz="quarter" idx="11"/>
          </p:nvPr>
        </p:nvSpPr>
        <p:spPr/>
        <p:txBody>
          <a:bodyPr/>
          <a:lstStyle/>
          <a:p>
            <a:r>
              <a:rPr lang="en-IN"/>
              <a:t>Leveraging Deep Learning for Intelligent Driver Behavior Analysis for Road Safety</a:t>
            </a:r>
          </a:p>
        </p:txBody>
      </p:sp>
      <p:sp>
        <p:nvSpPr>
          <p:cNvPr id="7" name="Slide Number Placeholder 6"/>
          <p:cNvSpPr>
            <a:spLocks noGrp="1"/>
          </p:cNvSpPr>
          <p:nvPr>
            <p:ph type="sldNum" sz="quarter" idx="12"/>
          </p:nvPr>
        </p:nvSpPr>
        <p:spPr/>
        <p:txBody>
          <a:bodyPr/>
          <a:lstStyle/>
          <a:p>
            <a:fld id="{9D3FF152-60F5-4862-82F9-1190556AA56F}" type="slidenum">
              <a:rPr lang="en-IN" smtClean="0"/>
              <a:t>‹#›</a:t>
            </a:fld>
            <a:endParaRPr lang="en-IN"/>
          </a:p>
        </p:txBody>
      </p:sp>
    </p:spTree>
    <p:extLst>
      <p:ext uri="{BB962C8B-B14F-4D97-AF65-F5344CB8AC3E}">
        <p14:creationId xmlns:p14="http://schemas.microsoft.com/office/powerpoint/2010/main" val="884462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47F4ACE-8BC8-4F5D-A597-E05328E95D8A}" type="datetime1">
              <a:rPr lang="en-IN" smtClean="0"/>
              <a:t>03-04-2025</a:t>
            </a:fld>
            <a:endParaRPr lang="en-IN"/>
          </a:p>
        </p:txBody>
      </p:sp>
      <p:sp>
        <p:nvSpPr>
          <p:cNvPr id="6" name="Footer Placeholder 5"/>
          <p:cNvSpPr>
            <a:spLocks noGrp="1"/>
          </p:cNvSpPr>
          <p:nvPr>
            <p:ph type="ftr" sz="quarter" idx="11"/>
          </p:nvPr>
        </p:nvSpPr>
        <p:spPr/>
        <p:txBody>
          <a:bodyPr/>
          <a:lstStyle/>
          <a:p>
            <a:r>
              <a:rPr lang="en-IN"/>
              <a:t>Leveraging Deep Learning for Intelligent Driver Behavior Analysis for Road Safety</a:t>
            </a:r>
          </a:p>
        </p:txBody>
      </p:sp>
      <p:sp>
        <p:nvSpPr>
          <p:cNvPr id="7" name="Slide Number Placeholder 6"/>
          <p:cNvSpPr>
            <a:spLocks noGrp="1"/>
          </p:cNvSpPr>
          <p:nvPr>
            <p:ph type="sldNum" sz="quarter" idx="12"/>
          </p:nvPr>
        </p:nvSpPr>
        <p:spPr/>
        <p:txBody>
          <a:bodyPr/>
          <a:lstStyle/>
          <a:p>
            <a:fld id="{9D3FF152-60F5-4862-82F9-1190556AA56F}" type="slidenum">
              <a:rPr lang="en-IN" smtClean="0"/>
              <a:t>‹#›</a:t>
            </a:fld>
            <a:endParaRPr lang="en-IN"/>
          </a:p>
        </p:txBody>
      </p:sp>
    </p:spTree>
    <p:extLst>
      <p:ext uri="{BB962C8B-B14F-4D97-AF65-F5344CB8AC3E}">
        <p14:creationId xmlns:p14="http://schemas.microsoft.com/office/powerpoint/2010/main" val="272760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338932-3150-4E67-97C6-A5B5772CA2FC}" type="datetime1">
              <a:rPr lang="en-IN" smtClean="0"/>
              <a:t>03-04-2025</a:t>
            </a:fld>
            <a:endParaRPr lang="en-IN"/>
          </a:p>
        </p:txBody>
      </p:sp>
      <p:sp>
        <p:nvSpPr>
          <p:cNvPr id="5" name="Footer Placeholder 4"/>
          <p:cNvSpPr>
            <a:spLocks noGrp="1"/>
          </p:cNvSpPr>
          <p:nvPr>
            <p:ph type="ftr" sz="quarter" idx="11"/>
          </p:nvPr>
        </p:nvSpPr>
        <p:spPr/>
        <p:txBody>
          <a:bodyPr/>
          <a:lstStyle/>
          <a:p>
            <a:r>
              <a:rPr lang="en-IN"/>
              <a:t>Leveraging Deep Learning for Intelligent Driver Behavior Analysis for Road Safety</a:t>
            </a:r>
          </a:p>
        </p:txBody>
      </p:sp>
      <p:sp>
        <p:nvSpPr>
          <p:cNvPr id="6" name="Slide Number Placeholder 5"/>
          <p:cNvSpPr>
            <a:spLocks noGrp="1"/>
          </p:cNvSpPr>
          <p:nvPr>
            <p:ph type="sldNum" sz="quarter" idx="12"/>
          </p:nvPr>
        </p:nvSpPr>
        <p:spPr/>
        <p:txBody>
          <a:bodyPr/>
          <a:lstStyle/>
          <a:p>
            <a:fld id="{9D3FF152-60F5-4862-82F9-1190556AA56F}" type="slidenum">
              <a:rPr lang="en-IN" smtClean="0"/>
              <a:t>‹#›</a:t>
            </a:fld>
            <a:endParaRPr lang="en-IN"/>
          </a:p>
        </p:txBody>
      </p:sp>
    </p:spTree>
    <p:extLst>
      <p:ext uri="{BB962C8B-B14F-4D97-AF65-F5344CB8AC3E}">
        <p14:creationId xmlns:p14="http://schemas.microsoft.com/office/powerpoint/2010/main" val="3518232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A9A5E6-E133-4D62-844C-12665F9D0B47}" type="datetime1">
              <a:rPr lang="en-IN" smtClean="0"/>
              <a:t>03-04-2025</a:t>
            </a:fld>
            <a:endParaRPr lang="en-IN"/>
          </a:p>
        </p:txBody>
      </p:sp>
      <p:sp>
        <p:nvSpPr>
          <p:cNvPr id="5" name="Footer Placeholder 4"/>
          <p:cNvSpPr>
            <a:spLocks noGrp="1"/>
          </p:cNvSpPr>
          <p:nvPr>
            <p:ph type="ftr" sz="quarter" idx="11"/>
          </p:nvPr>
        </p:nvSpPr>
        <p:spPr/>
        <p:txBody>
          <a:bodyPr/>
          <a:lstStyle/>
          <a:p>
            <a:r>
              <a:rPr lang="en-IN"/>
              <a:t>Leveraging Deep Learning for Intelligent Driver Behavior Analysis for Road Safety</a:t>
            </a:r>
          </a:p>
        </p:txBody>
      </p:sp>
      <p:sp>
        <p:nvSpPr>
          <p:cNvPr id="6" name="Slide Number Placeholder 5"/>
          <p:cNvSpPr>
            <a:spLocks noGrp="1"/>
          </p:cNvSpPr>
          <p:nvPr>
            <p:ph type="sldNum" sz="quarter" idx="12"/>
          </p:nvPr>
        </p:nvSpPr>
        <p:spPr/>
        <p:txBody>
          <a:bodyPr/>
          <a:lstStyle/>
          <a:p>
            <a:fld id="{9D3FF152-60F5-4862-82F9-1190556AA56F}" type="slidenum">
              <a:rPr lang="en-IN" smtClean="0"/>
              <a:t>‹#›</a:t>
            </a:fld>
            <a:endParaRPr lang="en-IN"/>
          </a:p>
        </p:txBody>
      </p:sp>
    </p:spTree>
    <p:extLst>
      <p:ext uri="{BB962C8B-B14F-4D97-AF65-F5344CB8AC3E}">
        <p14:creationId xmlns:p14="http://schemas.microsoft.com/office/powerpoint/2010/main" val="1319139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57FA93-95E1-49B9-91BE-61859F6E819C}" type="datetime1">
              <a:rPr lang="en-IN" smtClean="0"/>
              <a:t>03-04-2025</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Leveraging Deep Learning for Intelligent Driver Behavior Analysis for Road Safety</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3FF152-60F5-4862-82F9-1190556AA56F}" type="slidenum">
              <a:rPr lang="en-IN" smtClean="0"/>
              <a:t>‹#›</a:t>
            </a:fld>
            <a:endParaRPr lang="en-IN"/>
          </a:p>
        </p:txBody>
      </p:sp>
    </p:spTree>
    <p:extLst>
      <p:ext uri="{BB962C8B-B14F-4D97-AF65-F5344CB8AC3E}">
        <p14:creationId xmlns:p14="http://schemas.microsoft.com/office/powerpoint/2010/main" val="28879846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017383E-C6FC-49E7-A521-82BA6750D5ED}"/>
              </a:ext>
            </a:extLst>
          </p:cNvPr>
          <p:cNvPicPr>
            <a:picLocks noChangeAspect="1"/>
          </p:cNvPicPr>
          <p:nvPr/>
        </p:nvPicPr>
        <p:blipFill>
          <a:blip r:embed="rId2"/>
          <a:stretch>
            <a:fillRect/>
          </a:stretch>
        </p:blipFill>
        <p:spPr>
          <a:xfrm>
            <a:off x="174379" y="99322"/>
            <a:ext cx="1576960" cy="1178263"/>
          </a:xfrm>
          <a:prstGeom prst="rect">
            <a:avLst/>
          </a:prstGeom>
        </p:spPr>
      </p:pic>
      <p:pic>
        <p:nvPicPr>
          <p:cNvPr id="1032" name="Picture 8" descr="Anna University - Wikipedia">
            <a:extLst>
              <a:ext uri="{FF2B5EF4-FFF2-40B4-BE49-F238E27FC236}">
                <a16:creationId xmlns:a16="http://schemas.microsoft.com/office/drawing/2014/main" id="{D6A094F9-77C3-45C3-9A48-8D52C03CE8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5085" y="88372"/>
            <a:ext cx="1306884" cy="1178263"/>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036F5FA9-0A71-48B8-AEAE-E35B120A096B}"/>
              </a:ext>
            </a:extLst>
          </p:cNvPr>
          <p:cNvSpPr txBox="1"/>
          <p:nvPr/>
        </p:nvSpPr>
        <p:spPr>
          <a:xfrm>
            <a:off x="1901927" y="1537239"/>
            <a:ext cx="7020042" cy="461665"/>
          </a:xfrm>
          <a:prstGeom prst="rect">
            <a:avLst/>
          </a:prstGeom>
          <a:noFill/>
        </p:spPr>
        <p:txBody>
          <a:bodyPr wrap="square">
            <a:spAutoFit/>
          </a:bodyPr>
          <a:lstStyle/>
          <a:p>
            <a:r>
              <a:rPr lang="en-US" b="1" dirty="0">
                <a:solidFill>
                  <a:srgbClr val="7030A0"/>
                </a:solidFill>
                <a:latin typeface="Times New Roman" panose="02020603050405020304" pitchFamily="18" charset="0"/>
              </a:rPr>
              <a:t>Department of Computer Science and Engineering </a:t>
            </a:r>
            <a:endParaRPr lang="en-IN" sz="2400" b="1" dirty="0">
              <a:solidFill>
                <a:srgbClr val="7030A0"/>
              </a:solidFill>
            </a:endParaRPr>
          </a:p>
        </p:txBody>
      </p:sp>
      <p:sp>
        <p:nvSpPr>
          <p:cNvPr id="9" name="TextBox 8">
            <a:extLst>
              <a:ext uri="{FF2B5EF4-FFF2-40B4-BE49-F238E27FC236}">
                <a16:creationId xmlns:a16="http://schemas.microsoft.com/office/drawing/2014/main" id="{E2AB4079-B959-438A-8887-B4E86C814C3D}"/>
              </a:ext>
            </a:extLst>
          </p:cNvPr>
          <p:cNvSpPr txBox="1"/>
          <p:nvPr/>
        </p:nvSpPr>
        <p:spPr>
          <a:xfrm>
            <a:off x="853769" y="2272477"/>
            <a:ext cx="8182076" cy="1015663"/>
          </a:xfrm>
          <a:prstGeom prst="rect">
            <a:avLst/>
          </a:prstGeom>
          <a:noFill/>
        </p:spPr>
        <p:txBody>
          <a:bodyPr wrap="square" rtlCol="0">
            <a:spAutoFit/>
          </a:bodyPr>
          <a:lstStyle/>
          <a:p>
            <a:pPr algn="ctr"/>
            <a:r>
              <a:rPr lang="en-IN" sz="3000" b="1" i="0" dirty="0">
                <a:solidFill>
                  <a:srgbClr val="1F1F1F"/>
                </a:solidFill>
                <a:effectLst/>
                <a:latin typeface="Times New Roman" panose="02020603050405020304" pitchFamily="18" charset="0"/>
                <a:cs typeface="Times New Roman" panose="02020603050405020304" pitchFamily="18" charset="0"/>
              </a:rPr>
              <a:t>Leveraging Deep Learning for Intelligent Driver Behaviour Analysis for Road Safety</a:t>
            </a:r>
            <a:endParaRPr lang="en-IN" sz="3000"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1330EC8A-088B-458F-9182-920EE3139846}"/>
              </a:ext>
            </a:extLst>
          </p:cNvPr>
          <p:cNvSpPr txBox="1"/>
          <p:nvPr/>
        </p:nvSpPr>
        <p:spPr>
          <a:xfrm>
            <a:off x="174379" y="4848372"/>
            <a:ext cx="3938725" cy="92333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PROJECT GUIDE:</a:t>
            </a:r>
          </a:p>
          <a:p>
            <a:r>
              <a:rPr lang="en-US" b="1" dirty="0">
                <a:latin typeface="Times New Roman" panose="02020603050405020304" pitchFamily="18" charset="0"/>
                <a:cs typeface="Times New Roman" panose="02020603050405020304" pitchFamily="18" charset="0"/>
              </a:rPr>
              <a:t>SURESH S</a:t>
            </a:r>
          </a:p>
          <a:p>
            <a:r>
              <a:rPr lang="en-US" b="1" dirty="0">
                <a:latin typeface="Times New Roman" panose="02020603050405020304" pitchFamily="18" charset="0"/>
                <a:cs typeface="Times New Roman" panose="02020603050405020304" pitchFamily="18" charset="0"/>
              </a:rPr>
              <a:t>ASSISTANT PROFESSOR</a:t>
            </a:r>
            <a:endParaRPr lang="en-IN"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0B14CB2B-BA40-B9F9-16FA-AA5B5E13E8EA}"/>
              </a:ext>
            </a:extLst>
          </p:cNvPr>
          <p:cNvSpPr txBox="1"/>
          <p:nvPr/>
        </p:nvSpPr>
        <p:spPr>
          <a:xfrm>
            <a:off x="2094372" y="3525870"/>
            <a:ext cx="4802820" cy="923330"/>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MANOOJ KUMAR T A	211421104159</a:t>
            </a:r>
          </a:p>
          <a:p>
            <a:pPr algn="ctr"/>
            <a:r>
              <a:rPr lang="en-US" b="1" dirty="0">
                <a:latin typeface="Times New Roman" panose="02020603050405020304" pitchFamily="18" charset="0"/>
                <a:cs typeface="Times New Roman" panose="02020603050405020304" pitchFamily="18" charset="0"/>
              </a:rPr>
              <a:t>KISHAL T                             211421104130</a:t>
            </a:r>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KRITHICK A                        211421104324</a:t>
            </a:r>
            <a:endParaRPr lang="en-US"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DA7E15F-5577-E472-5EEB-C46481EAA666}"/>
              </a:ext>
            </a:extLst>
          </p:cNvPr>
          <p:cNvSpPr txBox="1"/>
          <p:nvPr/>
        </p:nvSpPr>
        <p:spPr>
          <a:xfrm>
            <a:off x="5984554" y="4837731"/>
            <a:ext cx="4327813" cy="1477328"/>
          </a:xfrm>
          <a:prstGeom prst="rect">
            <a:avLst/>
          </a:prstGeom>
          <a:noFill/>
        </p:spPr>
        <p:txBody>
          <a:bodyPr wrap="square" rtlCol="0">
            <a:spAutoFit/>
          </a:bodyPr>
          <a:lstStyle/>
          <a:p>
            <a:r>
              <a:rPr lang="en-IN" b="1" i="0" dirty="0">
                <a:solidFill>
                  <a:srgbClr val="333333"/>
                </a:solidFill>
                <a:effectLst/>
                <a:latin typeface="Times New Roman" panose="02020603050405020304" pitchFamily="18" charset="0"/>
                <a:cs typeface="Times New Roman" panose="02020603050405020304" pitchFamily="18" charset="0"/>
              </a:rPr>
              <a:t>PROJECT COORDINATOR</a:t>
            </a:r>
          </a:p>
          <a:p>
            <a:r>
              <a:rPr lang="en-IN" b="1" i="0" dirty="0">
                <a:solidFill>
                  <a:srgbClr val="333333"/>
                </a:solidFill>
                <a:effectLst/>
                <a:latin typeface="Times New Roman" panose="02020603050405020304" pitchFamily="18" charset="0"/>
                <a:cs typeface="Times New Roman" panose="02020603050405020304" pitchFamily="18" charset="0"/>
              </a:rPr>
              <a:t>Dr. JOSPHINE LEELA R</a:t>
            </a:r>
          </a:p>
          <a:p>
            <a:r>
              <a:rPr lang="en-IN" b="1" dirty="0">
                <a:solidFill>
                  <a:srgbClr val="333333"/>
                </a:solidFill>
                <a:latin typeface="Times New Roman" panose="02020603050405020304" pitchFamily="18" charset="0"/>
                <a:cs typeface="Times New Roman" panose="02020603050405020304" pitchFamily="18" charset="0"/>
              </a:rPr>
              <a:t>PROFESSOR</a:t>
            </a:r>
            <a:endParaRPr lang="en-IN" b="0" i="0" dirty="0">
              <a:solidFill>
                <a:srgbClr val="333333"/>
              </a:solidFill>
              <a:effectLst/>
              <a:latin typeface="Times New Roman" panose="02020603050405020304" pitchFamily="18" charset="0"/>
              <a:cs typeface="Times New Roman" panose="02020603050405020304" pitchFamily="18" charset="0"/>
            </a:endParaRPr>
          </a:p>
          <a:p>
            <a:endParaRPr lang="en-IN" b="0" i="0" dirty="0">
              <a:solidFill>
                <a:srgbClr val="333333"/>
              </a:solidFill>
              <a:effectLst/>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7ACA5B2-7494-70D8-175E-1A0009147C93}"/>
              </a:ext>
            </a:extLst>
          </p:cNvPr>
          <p:cNvPicPr>
            <a:picLocks noChangeAspect="1"/>
          </p:cNvPicPr>
          <p:nvPr/>
        </p:nvPicPr>
        <p:blipFill>
          <a:blip r:embed="rId4"/>
          <a:stretch>
            <a:fillRect/>
          </a:stretch>
        </p:blipFill>
        <p:spPr>
          <a:xfrm>
            <a:off x="1418480" y="99322"/>
            <a:ext cx="6133822" cy="1263286"/>
          </a:xfrm>
          <a:prstGeom prst="rect">
            <a:avLst/>
          </a:prstGeom>
        </p:spPr>
      </p:pic>
      <p:sp>
        <p:nvSpPr>
          <p:cNvPr id="10" name="Slide Number Placeholder 9">
            <a:extLst>
              <a:ext uri="{FF2B5EF4-FFF2-40B4-BE49-F238E27FC236}">
                <a16:creationId xmlns:a16="http://schemas.microsoft.com/office/drawing/2014/main" id="{1A45000B-3233-04ED-8583-BAA14AF15C75}"/>
              </a:ext>
            </a:extLst>
          </p:cNvPr>
          <p:cNvSpPr>
            <a:spLocks noGrp="1"/>
          </p:cNvSpPr>
          <p:nvPr>
            <p:ph type="sldNum" sz="quarter" idx="12"/>
          </p:nvPr>
        </p:nvSpPr>
        <p:spPr>
          <a:xfrm>
            <a:off x="6457949" y="6356351"/>
            <a:ext cx="2314273" cy="365125"/>
          </a:xfrm>
        </p:spPr>
        <p:txBody>
          <a:bodyPr/>
          <a:lstStyle/>
          <a:p>
            <a:fld id="{9D3FF152-60F5-4862-82F9-1190556AA56F}" type="slidenum">
              <a:rPr lang="en-IN" sz="1400" b="1" smtClean="0">
                <a:solidFill>
                  <a:schemeClr val="tx1"/>
                </a:solidFill>
              </a:rPr>
              <a:t>1</a:t>
            </a:fld>
            <a:endParaRPr lang="en-IN" sz="1400" b="1" dirty="0">
              <a:solidFill>
                <a:schemeClr val="tx1"/>
              </a:solidFill>
            </a:endParaRPr>
          </a:p>
        </p:txBody>
      </p:sp>
      <p:sp>
        <p:nvSpPr>
          <p:cNvPr id="8" name="Footer Placeholder 7">
            <a:extLst>
              <a:ext uri="{FF2B5EF4-FFF2-40B4-BE49-F238E27FC236}">
                <a16:creationId xmlns:a16="http://schemas.microsoft.com/office/drawing/2014/main" id="{883DBBAE-C41A-ABDF-CB33-314E9D7C56C6}"/>
              </a:ext>
            </a:extLst>
          </p:cNvPr>
          <p:cNvSpPr>
            <a:spLocks noGrp="1"/>
          </p:cNvSpPr>
          <p:nvPr>
            <p:ph type="ftr" sz="quarter" idx="11"/>
          </p:nvPr>
        </p:nvSpPr>
        <p:spPr/>
        <p:txBody>
          <a:bodyPr/>
          <a:lstStyle/>
          <a:p>
            <a:r>
              <a:rPr lang="en-IN" b="1"/>
              <a:t>Leveraging Deep Learning for Intelligent Driver Behavior Analysis for Road Safety</a:t>
            </a:r>
          </a:p>
        </p:txBody>
      </p:sp>
    </p:spTree>
    <p:extLst>
      <p:ext uri="{BB962C8B-B14F-4D97-AF65-F5344CB8AC3E}">
        <p14:creationId xmlns:p14="http://schemas.microsoft.com/office/powerpoint/2010/main" val="9899931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273567"/>
            <a:ext cx="7886700" cy="530258"/>
          </a:xfrm>
        </p:spPr>
        <p:txBody>
          <a:bodyPr>
            <a:noAutofit/>
          </a:bodyPr>
          <a:lstStyle/>
          <a:p>
            <a:pPr algn="ctr"/>
            <a:r>
              <a:rPr lang="en-US" b="1" dirty="0">
                <a:solidFill>
                  <a:srgbClr val="7030A0"/>
                </a:solidFill>
                <a:latin typeface="Times New Roman" panose="02020603050405020304" pitchFamily="18" charset="0"/>
                <a:cs typeface="Times New Roman" panose="02020603050405020304" pitchFamily="18" charset="0"/>
              </a:rPr>
              <a:t>Abstract</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D0D27F3-A695-E40C-B83C-8D83510D94B2}"/>
              </a:ext>
            </a:extLst>
          </p:cNvPr>
          <p:cNvSpPr>
            <a:spLocks noGrp="1"/>
          </p:cNvSpPr>
          <p:nvPr>
            <p:ph type="sldNum" sz="quarter" idx="12"/>
          </p:nvPr>
        </p:nvSpPr>
        <p:spPr/>
        <p:txBody>
          <a:bodyPr/>
          <a:lstStyle/>
          <a:p>
            <a:fld id="{9D3FF152-60F5-4862-82F9-1190556AA56F}" type="slidenum">
              <a:rPr lang="en-IN" sz="1400" b="1" smtClean="0">
                <a:solidFill>
                  <a:schemeClr val="tx1"/>
                </a:solidFill>
              </a:rPr>
              <a:t>2</a:t>
            </a:fld>
            <a:endParaRPr lang="en-IN" sz="1400" b="1" dirty="0">
              <a:solidFill>
                <a:schemeClr val="tx1"/>
              </a:solidFill>
            </a:endParaRPr>
          </a:p>
        </p:txBody>
      </p:sp>
      <p:sp>
        <p:nvSpPr>
          <p:cNvPr id="5" name="TextBox 4">
            <a:extLst>
              <a:ext uri="{FF2B5EF4-FFF2-40B4-BE49-F238E27FC236}">
                <a16:creationId xmlns:a16="http://schemas.microsoft.com/office/drawing/2014/main" id="{DC7BA443-99A8-7A6F-DA2E-441820D56F6D}"/>
              </a:ext>
            </a:extLst>
          </p:cNvPr>
          <p:cNvSpPr txBox="1"/>
          <p:nvPr/>
        </p:nvSpPr>
        <p:spPr>
          <a:xfrm>
            <a:off x="1120588" y="1604682"/>
            <a:ext cx="7394762" cy="369332"/>
          </a:xfrm>
          <a:prstGeom prst="rect">
            <a:avLst/>
          </a:prstGeom>
          <a:noFill/>
        </p:spPr>
        <p:txBody>
          <a:bodyPr wrap="square" rtlCol="0">
            <a:spAutoFit/>
          </a:bodyPr>
          <a:lstStyle/>
          <a:p>
            <a:endParaRPr lang="en-IN" dirty="0"/>
          </a:p>
        </p:txBody>
      </p:sp>
      <p:sp>
        <p:nvSpPr>
          <p:cNvPr id="6" name="Footer Placeholder 5">
            <a:extLst>
              <a:ext uri="{FF2B5EF4-FFF2-40B4-BE49-F238E27FC236}">
                <a16:creationId xmlns:a16="http://schemas.microsoft.com/office/drawing/2014/main" id="{531CCE89-FE17-CEEC-F45A-C882A485DC45}"/>
              </a:ext>
            </a:extLst>
          </p:cNvPr>
          <p:cNvSpPr>
            <a:spLocks noGrp="1"/>
          </p:cNvSpPr>
          <p:nvPr>
            <p:ph type="ftr" sz="quarter" idx="11"/>
          </p:nvPr>
        </p:nvSpPr>
        <p:spPr/>
        <p:txBody>
          <a:bodyPr/>
          <a:lstStyle/>
          <a:p>
            <a:r>
              <a:rPr lang="en-IN" b="1"/>
              <a:t>Leveraging Deep Learning for Intelligent Driver Behavior Analysis for Road Safety</a:t>
            </a:r>
          </a:p>
        </p:txBody>
      </p:sp>
      <p:sp>
        <p:nvSpPr>
          <p:cNvPr id="8" name="Rectangle 2">
            <a:extLst>
              <a:ext uri="{FF2B5EF4-FFF2-40B4-BE49-F238E27FC236}">
                <a16:creationId xmlns:a16="http://schemas.microsoft.com/office/drawing/2014/main" id="{110E0212-C109-182E-0BAF-EB519510A4E7}"/>
              </a:ext>
            </a:extLst>
          </p:cNvPr>
          <p:cNvSpPr>
            <a:spLocks noChangeArrowheads="1"/>
          </p:cNvSpPr>
          <p:nvPr/>
        </p:nvSpPr>
        <p:spPr bwMode="auto">
          <a:xfrm>
            <a:off x="0" y="1028343"/>
            <a:ext cx="9144000"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Ensuring road safety is a critical concern globally, and understanding driver behavior plays a significant role in mitigating traffic accidents.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paper presents a novel approach to intelligent driver behavior analysis by leveraging deep learning techniques, specifically Convolutional Neural Networks (CNN) and TensorFlow.</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Our methodology focuses on analyzing vast amounts of driving data to identify patterns and anomalies that could indicate unsafe driving behaviors.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training a CNN model on this data, we aim to achieve high accuracy in classifying and predicting various driver actions.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proposed system is designed to process data, providing immediate feedback to drivers and potentially alerting them to hazardous behaviors before accidents occur.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experimental results demonstrate that our model achieves superior performance compared to traditional methods, highlighting the efficacy of deep learning in enhancing road safety.</a:t>
            </a:r>
          </a:p>
        </p:txBody>
      </p:sp>
    </p:spTree>
    <p:extLst>
      <p:ext uri="{BB962C8B-B14F-4D97-AF65-F5344CB8AC3E}">
        <p14:creationId xmlns:p14="http://schemas.microsoft.com/office/powerpoint/2010/main" val="29440144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E3973-5CB2-B295-1E11-CA5D4A9BE7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4C7439-3E46-FB72-889A-830805CBE77B}"/>
              </a:ext>
            </a:extLst>
          </p:cNvPr>
          <p:cNvSpPr>
            <a:spLocks noGrp="1"/>
          </p:cNvSpPr>
          <p:nvPr>
            <p:ph type="title"/>
          </p:nvPr>
        </p:nvSpPr>
        <p:spPr>
          <a:xfrm>
            <a:off x="628650" y="273567"/>
            <a:ext cx="7886700" cy="530258"/>
          </a:xfrm>
        </p:spPr>
        <p:txBody>
          <a:bodyPr>
            <a:noAutofit/>
          </a:bodyPr>
          <a:lstStyle/>
          <a:p>
            <a:pPr algn="ctr"/>
            <a:r>
              <a:rPr lang="en-US" b="1" dirty="0">
                <a:solidFill>
                  <a:srgbClr val="7030A0"/>
                </a:solidFill>
                <a:latin typeface="Times New Roman" panose="02020603050405020304" pitchFamily="18" charset="0"/>
                <a:cs typeface="Times New Roman" panose="02020603050405020304" pitchFamily="18" charset="0"/>
              </a:rPr>
              <a:t>Introduction</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63D1A13-6535-53E7-62C9-38B3E3917C11}"/>
              </a:ext>
            </a:extLst>
          </p:cNvPr>
          <p:cNvSpPr>
            <a:spLocks noGrp="1"/>
          </p:cNvSpPr>
          <p:nvPr>
            <p:ph type="sldNum" sz="quarter" idx="12"/>
          </p:nvPr>
        </p:nvSpPr>
        <p:spPr/>
        <p:txBody>
          <a:bodyPr/>
          <a:lstStyle/>
          <a:p>
            <a:fld id="{9D3FF152-60F5-4862-82F9-1190556AA56F}" type="slidenum">
              <a:rPr lang="en-IN" sz="1400" b="1" smtClean="0">
                <a:solidFill>
                  <a:schemeClr val="tx1"/>
                </a:solidFill>
              </a:rPr>
              <a:t>3</a:t>
            </a:fld>
            <a:endParaRPr lang="en-IN" sz="1400" b="1" dirty="0">
              <a:solidFill>
                <a:schemeClr val="tx1"/>
              </a:solidFill>
            </a:endParaRPr>
          </a:p>
        </p:txBody>
      </p:sp>
      <p:sp>
        <p:nvSpPr>
          <p:cNvPr id="6" name="Footer Placeholder 5">
            <a:extLst>
              <a:ext uri="{FF2B5EF4-FFF2-40B4-BE49-F238E27FC236}">
                <a16:creationId xmlns:a16="http://schemas.microsoft.com/office/drawing/2014/main" id="{18C2F2CF-9D19-6907-22FC-54C42EE15594}"/>
              </a:ext>
            </a:extLst>
          </p:cNvPr>
          <p:cNvSpPr>
            <a:spLocks noGrp="1"/>
          </p:cNvSpPr>
          <p:nvPr>
            <p:ph type="ftr" sz="quarter" idx="11"/>
          </p:nvPr>
        </p:nvSpPr>
        <p:spPr/>
        <p:txBody>
          <a:bodyPr/>
          <a:lstStyle/>
          <a:p>
            <a:r>
              <a:rPr lang="en-IN" b="1"/>
              <a:t>Leveraging Deep Learning for Intelligent Driver Behavior Analysis for Road Safety</a:t>
            </a:r>
          </a:p>
        </p:txBody>
      </p:sp>
      <p:sp>
        <p:nvSpPr>
          <p:cNvPr id="7" name="TextBox 6">
            <a:extLst>
              <a:ext uri="{FF2B5EF4-FFF2-40B4-BE49-F238E27FC236}">
                <a16:creationId xmlns:a16="http://schemas.microsoft.com/office/drawing/2014/main" id="{EB39B696-D27C-C561-0ED9-1FAFAEF6DE45}"/>
              </a:ext>
            </a:extLst>
          </p:cNvPr>
          <p:cNvSpPr txBox="1"/>
          <p:nvPr/>
        </p:nvSpPr>
        <p:spPr>
          <a:xfrm>
            <a:off x="2949677" y="2113935"/>
            <a:ext cx="184731" cy="369332"/>
          </a:xfrm>
          <a:prstGeom prst="rect">
            <a:avLst/>
          </a:prstGeom>
          <a:noFill/>
        </p:spPr>
        <p:txBody>
          <a:bodyPr wrap="none" rtlCol="0">
            <a:spAutoFit/>
          </a:bodyPr>
          <a:lstStyle/>
          <a:p>
            <a:endParaRPr lang="en-IN" dirty="0"/>
          </a:p>
        </p:txBody>
      </p:sp>
      <p:sp>
        <p:nvSpPr>
          <p:cNvPr id="13" name="TextBox 12">
            <a:extLst>
              <a:ext uri="{FF2B5EF4-FFF2-40B4-BE49-F238E27FC236}">
                <a16:creationId xmlns:a16="http://schemas.microsoft.com/office/drawing/2014/main" id="{FC7DCB97-D311-7BD3-94F7-B91907DC99DA}"/>
              </a:ext>
            </a:extLst>
          </p:cNvPr>
          <p:cNvSpPr txBox="1"/>
          <p:nvPr/>
        </p:nvSpPr>
        <p:spPr>
          <a:xfrm>
            <a:off x="316049" y="803825"/>
            <a:ext cx="8731045" cy="5663089"/>
          </a:xfrm>
          <a:prstGeom prst="rect">
            <a:avLst/>
          </a:prstGeom>
          <a:noFill/>
        </p:spPr>
        <p:txBody>
          <a:bodyPr wrap="square" rtlCol="0">
            <a:spAutoFit/>
          </a:bodyPr>
          <a:lstStyle/>
          <a:p>
            <a:pPr algn="just">
              <a:buNone/>
            </a:pPr>
            <a:r>
              <a:rPr lang="en-US" b="1" dirty="0">
                <a:latin typeface="Times New Roman" panose="02020603050405020304" pitchFamily="18" charset="0"/>
                <a:cs typeface="Times New Roman" panose="02020603050405020304" pitchFamily="18" charset="0"/>
              </a:rPr>
              <a:t> Importance of Road Safety</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Road accidents cause significant loss of life and property.</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Human errors contribute to a majority of crashes.</a:t>
            </a:r>
          </a:p>
          <a:p>
            <a:pPr algn="just"/>
            <a:endParaRPr lang="en-US" dirty="0">
              <a:latin typeface="Times New Roman" panose="02020603050405020304" pitchFamily="18" charset="0"/>
              <a:cs typeface="Times New Roman" panose="02020603050405020304" pitchFamily="18" charset="0"/>
            </a:endParaRPr>
          </a:p>
          <a:p>
            <a:pPr algn="just">
              <a:buNone/>
            </a:pPr>
            <a:r>
              <a:rPr lang="en-US" b="1" dirty="0">
                <a:latin typeface="Times New Roman" panose="02020603050405020304" pitchFamily="18" charset="0"/>
                <a:cs typeface="Times New Roman" panose="02020603050405020304" pitchFamily="18" charset="0"/>
              </a:rPr>
              <a:t> Role of Driver Behavior in Accidents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Speeding, drowsiness, and distraction are major causes.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Need for real-time monitoring to prevent accidents.</a:t>
            </a:r>
          </a:p>
          <a:p>
            <a:pPr algn="just"/>
            <a:endParaRPr lang="en-US" dirty="0">
              <a:latin typeface="Times New Roman" panose="02020603050405020304" pitchFamily="18" charset="0"/>
              <a:cs typeface="Times New Roman" panose="02020603050405020304" pitchFamily="18" charset="0"/>
            </a:endParaRPr>
          </a:p>
          <a:p>
            <a:pPr algn="just">
              <a:buNone/>
            </a:pPr>
            <a:r>
              <a:rPr lang="en-US" b="1" dirty="0">
                <a:latin typeface="Times New Roman" panose="02020603050405020304" pitchFamily="18" charset="0"/>
                <a:cs typeface="Times New Roman" panose="02020603050405020304" pitchFamily="18" charset="0"/>
              </a:rPr>
              <a:t>Technology for Driver Safety</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AI-powered driver assistance systems.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Sensors, cameras, and IoT for real-time analysis.</a:t>
            </a:r>
          </a:p>
          <a:p>
            <a:pPr algn="just">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algn="just">
              <a:buNone/>
            </a:pPr>
            <a:r>
              <a:rPr lang="en-US" b="1" dirty="0">
                <a:latin typeface="Times New Roman" panose="02020603050405020304" pitchFamily="18" charset="0"/>
                <a:cs typeface="Times New Roman" panose="02020603050405020304" pitchFamily="18" charset="0"/>
              </a:rPr>
              <a:t> Deep Learning in Road Safety</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Used for driver behavior analysis (e.g., detecting drowsiness).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Applications: object detection, facial recognition, predictive analytics.</a:t>
            </a:r>
          </a:p>
          <a:p>
            <a:pPr algn="just"/>
            <a:endParaRPr lang="en-US" dirty="0">
              <a:latin typeface="Times New Roman" panose="02020603050405020304" pitchFamily="18" charset="0"/>
              <a:cs typeface="Times New Roman" panose="02020603050405020304" pitchFamily="18" charset="0"/>
            </a:endParaRPr>
          </a:p>
          <a:p>
            <a:pPr algn="just">
              <a:buNone/>
            </a:pPr>
            <a:r>
              <a:rPr lang="en-US" b="1" dirty="0">
                <a:latin typeface="Times New Roman" panose="02020603050405020304" pitchFamily="18" charset="0"/>
                <a:cs typeface="Times New Roman" panose="02020603050405020304" pitchFamily="18" charset="0"/>
              </a:rPr>
              <a:t>Problem &amp; Proposed Solution</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Problem: Many accidents occur due to inattentive driving.</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Solution: A deep learning-based system to monitor driver behavior and provide alerts.</a:t>
            </a:r>
          </a:p>
          <a:p>
            <a:pPr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1833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49" y="442487"/>
            <a:ext cx="7886700" cy="530258"/>
          </a:xfrm>
        </p:spPr>
        <p:txBody>
          <a:bodyPr>
            <a:noAutofit/>
          </a:bodyPr>
          <a:lstStyle/>
          <a:p>
            <a:pPr algn="ctr"/>
            <a:r>
              <a:rPr lang="en-US" b="1" dirty="0">
                <a:solidFill>
                  <a:srgbClr val="7030A0"/>
                </a:solidFill>
                <a:latin typeface="Times New Roman" panose="02020603050405020304" pitchFamily="18" charset="0"/>
                <a:cs typeface="Times New Roman" panose="02020603050405020304" pitchFamily="18" charset="0"/>
              </a:rPr>
              <a:t>Objective of the Project</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3EE05FC-38D6-EA45-0957-044D82E81D3A}"/>
              </a:ext>
            </a:extLst>
          </p:cNvPr>
          <p:cNvSpPr>
            <a:spLocks noGrp="1"/>
          </p:cNvSpPr>
          <p:nvPr>
            <p:ph type="sldNum" sz="quarter" idx="12"/>
          </p:nvPr>
        </p:nvSpPr>
        <p:spPr>
          <a:xfrm>
            <a:off x="6457949" y="6356351"/>
            <a:ext cx="2353541" cy="365125"/>
          </a:xfrm>
        </p:spPr>
        <p:txBody>
          <a:bodyPr/>
          <a:lstStyle/>
          <a:p>
            <a:fld id="{9D3FF152-60F5-4862-82F9-1190556AA56F}" type="slidenum">
              <a:rPr lang="en-IN" sz="1400" b="1" smtClean="0">
                <a:solidFill>
                  <a:schemeClr val="tx1"/>
                </a:solidFill>
              </a:rPr>
              <a:t>4</a:t>
            </a:fld>
            <a:endParaRPr lang="en-IN" b="1" dirty="0">
              <a:solidFill>
                <a:schemeClr val="tx1"/>
              </a:solidFill>
            </a:endParaRPr>
          </a:p>
        </p:txBody>
      </p:sp>
      <p:sp>
        <p:nvSpPr>
          <p:cNvPr id="5" name="Footer Placeholder 4">
            <a:extLst>
              <a:ext uri="{FF2B5EF4-FFF2-40B4-BE49-F238E27FC236}">
                <a16:creationId xmlns:a16="http://schemas.microsoft.com/office/drawing/2014/main" id="{8CD5E941-ED13-F9B3-3E1F-432A1F9B3DCB}"/>
              </a:ext>
            </a:extLst>
          </p:cNvPr>
          <p:cNvSpPr>
            <a:spLocks noGrp="1"/>
          </p:cNvSpPr>
          <p:nvPr>
            <p:ph type="ftr" sz="quarter" idx="11"/>
          </p:nvPr>
        </p:nvSpPr>
        <p:spPr/>
        <p:txBody>
          <a:bodyPr/>
          <a:lstStyle/>
          <a:p>
            <a:r>
              <a:rPr lang="en-IN" b="1"/>
              <a:t>Leveraging Deep Learning for Intelligent Driver Behavior Analysis for Road Safety</a:t>
            </a:r>
          </a:p>
        </p:txBody>
      </p:sp>
      <p:sp>
        <p:nvSpPr>
          <p:cNvPr id="3" name="TextBox 2">
            <a:extLst>
              <a:ext uri="{FF2B5EF4-FFF2-40B4-BE49-F238E27FC236}">
                <a16:creationId xmlns:a16="http://schemas.microsoft.com/office/drawing/2014/main" id="{63299961-1942-B232-F736-43B602982EF2}"/>
              </a:ext>
            </a:extLst>
          </p:cNvPr>
          <p:cNvSpPr txBox="1"/>
          <p:nvPr/>
        </p:nvSpPr>
        <p:spPr>
          <a:xfrm>
            <a:off x="332960" y="1443841"/>
            <a:ext cx="8478079" cy="3970318"/>
          </a:xfrm>
          <a:prstGeom prst="rect">
            <a:avLst/>
          </a:prstGeom>
          <a:noFill/>
        </p:spPr>
        <p:txBody>
          <a:bodyPr wrap="square" rtlCol="0">
            <a:spAutoFit/>
          </a:bodyPr>
          <a:lstStyle/>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Develop a deep learning-based system to analyze driver behavior by processing real-time data from cameras and sensors.</a:t>
            </a:r>
          </a:p>
          <a:p>
            <a:pPr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Identify and predict unsafe driving actions such as drowsiness, distraction, and reckless driving to enhance road safety.</a:t>
            </a:r>
          </a:p>
          <a:p>
            <a:pPr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 immediate feedback and alerts through visual, auditory, or haptic signals to help drivers correct their behavior.</a:t>
            </a:r>
          </a:p>
          <a:p>
            <a:pPr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Integrate AI-driven insights to assist in reducing accident risks by continuously monitoring and adapting to driving patterns.</a:t>
            </a:r>
          </a:p>
          <a:p>
            <a:pPr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Evaluate the system's performance using real-world datasets and compare its accuracy and efficiency with existing driver monitoring technologies.</a:t>
            </a:r>
          </a:p>
        </p:txBody>
      </p:sp>
    </p:spTree>
    <p:extLst>
      <p:ext uri="{BB962C8B-B14F-4D97-AF65-F5344CB8AC3E}">
        <p14:creationId xmlns:p14="http://schemas.microsoft.com/office/powerpoint/2010/main" val="4003226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b="1" dirty="0">
                <a:solidFill>
                  <a:srgbClr val="7030A0"/>
                </a:solidFill>
                <a:latin typeface="Times New Roman" panose="02020603050405020304" pitchFamily="18" charset="0"/>
                <a:cs typeface="Times New Roman" panose="02020603050405020304" pitchFamily="18" charset="0"/>
              </a:rPr>
              <a:t>Literature Survey</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1F558AD7-1919-A8D4-08D5-EFFEF53BCAAA}"/>
              </a:ext>
            </a:extLst>
          </p:cNvPr>
          <p:cNvSpPr>
            <a:spLocks noGrp="1"/>
          </p:cNvSpPr>
          <p:nvPr>
            <p:ph type="sldNum" sz="quarter" idx="12"/>
          </p:nvPr>
        </p:nvSpPr>
        <p:spPr/>
        <p:txBody>
          <a:bodyPr/>
          <a:lstStyle/>
          <a:p>
            <a:fld id="{9D3FF152-60F5-4862-82F9-1190556AA56F}" type="slidenum">
              <a:rPr lang="en-IN" sz="1400" b="1" smtClean="0">
                <a:solidFill>
                  <a:schemeClr val="tx1"/>
                </a:solidFill>
              </a:rPr>
              <a:t>5</a:t>
            </a:fld>
            <a:endParaRPr lang="en-IN" sz="1400" b="1" dirty="0">
              <a:solidFill>
                <a:schemeClr val="tx1"/>
              </a:solidFill>
            </a:endParaRPr>
          </a:p>
        </p:txBody>
      </p:sp>
      <p:sp>
        <p:nvSpPr>
          <p:cNvPr id="3" name="Footer Placeholder 2">
            <a:extLst>
              <a:ext uri="{FF2B5EF4-FFF2-40B4-BE49-F238E27FC236}">
                <a16:creationId xmlns:a16="http://schemas.microsoft.com/office/drawing/2014/main" id="{22F822A3-7A79-DF90-FA03-D964E6FDB281}"/>
              </a:ext>
            </a:extLst>
          </p:cNvPr>
          <p:cNvSpPr>
            <a:spLocks noGrp="1"/>
          </p:cNvSpPr>
          <p:nvPr>
            <p:ph type="ftr" sz="quarter" idx="11"/>
          </p:nvPr>
        </p:nvSpPr>
        <p:spPr/>
        <p:txBody>
          <a:bodyPr/>
          <a:lstStyle/>
          <a:p>
            <a:r>
              <a:rPr lang="en-IN" b="1"/>
              <a:t>Leveraging Deep Learning for Intelligent Driver Behavior Analysis for Road Safety</a:t>
            </a:r>
          </a:p>
        </p:txBody>
      </p:sp>
      <p:graphicFrame>
        <p:nvGraphicFramePr>
          <p:cNvPr id="9" name="Table 9">
            <a:extLst>
              <a:ext uri="{FF2B5EF4-FFF2-40B4-BE49-F238E27FC236}">
                <a16:creationId xmlns:a16="http://schemas.microsoft.com/office/drawing/2014/main" id="{FC5C5E63-A1BD-4D72-B6C1-15B43BBC0492}"/>
              </a:ext>
            </a:extLst>
          </p:cNvPr>
          <p:cNvGraphicFramePr>
            <a:graphicFrameLocks noGrp="1"/>
          </p:cNvGraphicFramePr>
          <p:nvPr>
            <p:extLst>
              <p:ext uri="{D42A27DB-BD31-4B8C-83A1-F6EECF244321}">
                <p14:modId xmlns:p14="http://schemas.microsoft.com/office/powerpoint/2010/main" val="2741734688"/>
              </p:ext>
            </p:extLst>
          </p:nvPr>
        </p:nvGraphicFramePr>
        <p:xfrm>
          <a:off x="392530" y="1045957"/>
          <a:ext cx="8358940" cy="4766086"/>
        </p:xfrm>
        <a:graphic>
          <a:graphicData uri="http://schemas.openxmlformats.org/drawingml/2006/table">
            <a:tbl>
              <a:tblPr firstRow="1" bandRow="1">
                <a:tableStyleId>{5940675A-B579-460E-94D1-54222C63F5DA}</a:tableStyleId>
              </a:tblPr>
              <a:tblGrid>
                <a:gridCol w="953903">
                  <a:extLst>
                    <a:ext uri="{9D8B030D-6E8A-4147-A177-3AD203B41FA5}">
                      <a16:colId xmlns:a16="http://schemas.microsoft.com/office/drawing/2014/main" val="42535709"/>
                    </a:ext>
                  </a:extLst>
                </a:gridCol>
                <a:gridCol w="1727555">
                  <a:extLst>
                    <a:ext uri="{9D8B030D-6E8A-4147-A177-3AD203B41FA5}">
                      <a16:colId xmlns:a16="http://schemas.microsoft.com/office/drawing/2014/main" val="1128833092"/>
                    </a:ext>
                  </a:extLst>
                </a:gridCol>
                <a:gridCol w="1979025">
                  <a:extLst>
                    <a:ext uri="{9D8B030D-6E8A-4147-A177-3AD203B41FA5}">
                      <a16:colId xmlns:a16="http://schemas.microsoft.com/office/drawing/2014/main" val="1994504787"/>
                    </a:ext>
                  </a:extLst>
                </a:gridCol>
                <a:gridCol w="1685800">
                  <a:extLst>
                    <a:ext uri="{9D8B030D-6E8A-4147-A177-3AD203B41FA5}">
                      <a16:colId xmlns:a16="http://schemas.microsoft.com/office/drawing/2014/main" val="2367970565"/>
                    </a:ext>
                  </a:extLst>
                </a:gridCol>
                <a:gridCol w="2012657">
                  <a:extLst>
                    <a:ext uri="{9D8B030D-6E8A-4147-A177-3AD203B41FA5}">
                      <a16:colId xmlns:a16="http://schemas.microsoft.com/office/drawing/2014/main" val="3759393643"/>
                    </a:ext>
                  </a:extLst>
                </a:gridCol>
              </a:tblGrid>
              <a:tr h="764162">
                <a:tc>
                  <a:txBody>
                    <a:bodyPr/>
                    <a:lstStyle/>
                    <a:p>
                      <a:r>
                        <a:rPr lang="en-US" b="1" dirty="0" err="1">
                          <a:latin typeface="Times New Roman" panose="02020603050405020304" pitchFamily="18" charset="0"/>
                          <a:cs typeface="Times New Roman" panose="02020603050405020304" pitchFamily="18" charset="0"/>
                        </a:rPr>
                        <a:t>S.No</a:t>
                      </a:r>
                      <a:endParaRPr lang="en-IN" b="1" dirty="0">
                        <a:latin typeface="Times New Roman" panose="02020603050405020304" pitchFamily="18" charset="0"/>
                        <a:cs typeface="Times New Roman" panose="02020603050405020304" pitchFamily="18" charset="0"/>
                      </a:endParaRPr>
                    </a:p>
                  </a:txBody>
                  <a:tcPr/>
                </a:tc>
                <a:tc>
                  <a:txBody>
                    <a:bodyPr/>
                    <a:lstStyle/>
                    <a:p>
                      <a:r>
                        <a:rPr lang="en-IN" b="1" dirty="0">
                          <a:latin typeface="Times New Roman" panose="02020603050405020304" pitchFamily="18" charset="0"/>
                          <a:cs typeface="Times New Roman" panose="02020603050405020304" pitchFamily="18" charset="0"/>
                        </a:rPr>
                        <a:t>Title of Paper</a:t>
                      </a:r>
                    </a:p>
                  </a:txBody>
                  <a:tcPr/>
                </a:tc>
                <a:tc>
                  <a:txBody>
                    <a:bodyPr/>
                    <a:lstStyle/>
                    <a:p>
                      <a:r>
                        <a:rPr lang="en-US" b="1" dirty="0">
                          <a:latin typeface="Times New Roman" panose="02020603050405020304" pitchFamily="18" charset="0"/>
                          <a:cs typeface="Times New Roman" panose="02020603050405020304" pitchFamily="18" charset="0"/>
                        </a:rPr>
                        <a:t>Methodology</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Advantage</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Disadvantage</a:t>
                      </a:r>
                      <a:endParaRPr lang="en-IN"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76995515"/>
                  </a:ext>
                </a:extLst>
              </a:tr>
              <a:tr h="2000962">
                <a:tc>
                  <a:txBody>
                    <a:bodyPr/>
                    <a:lstStyle/>
                    <a:p>
                      <a:r>
                        <a:rPr lang="en-US" dirty="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Real-Time Driver Distraction Detection Using CNN</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Used a </a:t>
                      </a:r>
                      <a:r>
                        <a:rPr lang="en-US" b="1" dirty="0">
                          <a:latin typeface="Times New Roman" panose="02020603050405020304" pitchFamily="18" charset="0"/>
                          <a:cs typeface="Times New Roman" panose="02020603050405020304" pitchFamily="18" charset="0"/>
                        </a:rPr>
                        <a:t>Convolutional Neural Network (CNN)</a:t>
                      </a:r>
                      <a:r>
                        <a:rPr lang="en-US" dirty="0">
                          <a:latin typeface="Times New Roman" panose="02020603050405020304" pitchFamily="18" charset="0"/>
                          <a:cs typeface="Times New Roman" panose="02020603050405020304" pitchFamily="18" charset="0"/>
                        </a:rPr>
                        <a:t> for image classification.</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Achieved </a:t>
                      </a:r>
                      <a:r>
                        <a:rPr lang="en-US" b="1" dirty="0">
                          <a:latin typeface="Times New Roman" panose="02020603050405020304" pitchFamily="18" charset="0"/>
                          <a:cs typeface="Times New Roman" panose="02020603050405020304" pitchFamily="18" charset="0"/>
                        </a:rPr>
                        <a:t>92% accuracy</a:t>
                      </a:r>
                      <a:r>
                        <a:rPr lang="en-US" dirty="0">
                          <a:latin typeface="Times New Roman" panose="02020603050405020304" pitchFamily="18" charset="0"/>
                          <a:cs typeface="Times New Roman" panose="02020603050405020304" pitchFamily="18" charset="0"/>
                        </a:rPr>
                        <a:t>; Efficient for real-time detection.</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Requires </a:t>
                      </a:r>
                      <a:r>
                        <a:rPr lang="en-US" b="1" dirty="0">
                          <a:latin typeface="Times New Roman" panose="02020603050405020304" pitchFamily="18" charset="0"/>
                          <a:cs typeface="Times New Roman" panose="02020603050405020304" pitchFamily="18" charset="0"/>
                        </a:rPr>
                        <a:t>high computational power</a:t>
                      </a:r>
                      <a:r>
                        <a:rPr lang="en-US" dirty="0">
                          <a:latin typeface="Times New Roman" panose="02020603050405020304" pitchFamily="18" charset="0"/>
                          <a:cs typeface="Times New Roman" panose="02020603050405020304" pitchFamily="18" charset="0"/>
                        </a:rPr>
                        <a:t> for deep learning models.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79240293"/>
                  </a:ext>
                </a:extLst>
              </a:tr>
              <a:tr h="2000962">
                <a:tc>
                  <a:txBody>
                    <a:bodyPr/>
                    <a:lstStyle/>
                    <a:p>
                      <a:r>
                        <a:rPr lang="en-US" dirty="0">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Automatic Detection of Driver Distraction Using ML</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Used </a:t>
                      </a:r>
                      <a:r>
                        <a:rPr lang="en-US" b="1" dirty="0">
                          <a:latin typeface="Times New Roman" panose="02020603050405020304" pitchFamily="18" charset="0"/>
                          <a:cs typeface="Times New Roman" panose="02020603050405020304" pitchFamily="18" charset="0"/>
                        </a:rPr>
                        <a:t>Random Forest classifier</a:t>
                      </a:r>
                      <a:r>
                        <a:rPr lang="en-US" dirty="0">
                          <a:latin typeface="Times New Roman" panose="02020603050405020304" pitchFamily="18" charset="0"/>
                          <a:cs typeface="Times New Roman" panose="02020603050405020304" pitchFamily="18" charset="0"/>
                        </a:rPr>
                        <a:t> with </a:t>
                      </a:r>
                      <a:r>
                        <a:rPr lang="en-US" b="1" dirty="0">
                          <a:latin typeface="Times New Roman" panose="02020603050405020304" pitchFamily="18" charset="0"/>
                          <a:cs typeface="Times New Roman" panose="02020603050405020304" pitchFamily="18" charset="0"/>
                        </a:rPr>
                        <a:t>hand and eye movement tracking</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Less computationally expensive than CNN models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Lower accuracy (</a:t>
                      </a:r>
                      <a:r>
                        <a:rPr lang="en-US" b="1" dirty="0">
                          <a:latin typeface="Times New Roman" panose="02020603050405020304" pitchFamily="18" charset="0"/>
                          <a:cs typeface="Times New Roman" panose="02020603050405020304" pitchFamily="18" charset="0"/>
                        </a:rPr>
                        <a:t>85%</a:t>
                      </a:r>
                      <a:r>
                        <a:rPr lang="en-US" dirty="0">
                          <a:latin typeface="Times New Roman" panose="02020603050405020304" pitchFamily="18" charset="0"/>
                          <a:cs typeface="Times New Roman" panose="02020603050405020304" pitchFamily="18" charset="0"/>
                        </a:rPr>
                        <a:t>) compared to deep learning methods.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50731324"/>
                  </a:ext>
                </a:extLst>
              </a:tr>
            </a:tbl>
          </a:graphicData>
        </a:graphic>
      </p:graphicFrame>
    </p:spTree>
    <p:extLst>
      <p:ext uri="{BB962C8B-B14F-4D97-AF65-F5344CB8AC3E}">
        <p14:creationId xmlns:p14="http://schemas.microsoft.com/office/powerpoint/2010/main" val="3343324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b="1" dirty="0">
                <a:solidFill>
                  <a:srgbClr val="7030A0"/>
                </a:solidFill>
                <a:latin typeface="Times New Roman" panose="02020603050405020304" pitchFamily="18" charset="0"/>
                <a:cs typeface="Times New Roman" panose="02020603050405020304" pitchFamily="18" charset="0"/>
              </a:rPr>
              <a:t>Literature Survey</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1F558AD7-1919-A8D4-08D5-EFFEF53BCAAA}"/>
              </a:ext>
            </a:extLst>
          </p:cNvPr>
          <p:cNvSpPr>
            <a:spLocks noGrp="1"/>
          </p:cNvSpPr>
          <p:nvPr>
            <p:ph type="sldNum" sz="quarter" idx="12"/>
          </p:nvPr>
        </p:nvSpPr>
        <p:spPr>
          <a:xfrm>
            <a:off x="6634596" y="6326884"/>
            <a:ext cx="2057400" cy="365125"/>
          </a:xfrm>
        </p:spPr>
        <p:txBody>
          <a:bodyPr/>
          <a:lstStyle/>
          <a:p>
            <a:fld id="{9D3FF152-60F5-4862-82F9-1190556AA56F}" type="slidenum">
              <a:rPr lang="en-IN" sz="1400" b="1" smtClean="0">
                <a:solidFill>
                  <a:schemeClr val="tx1"/>
                </a:solidFill>
              </a:rPr>
              <a:t>6</a:t>
            </a:fld>
            <a:endParaRPr lang="en-IN" sz="1400" b="1" dirty="0">
              <a:solidFill>
                <a:schemeClr val="tx1"/>
              </a:solidFill>
            </a:endParaRPr>
          </a:p>
        </p:txBody>
      </p:sp>
      <p:sp>
        <p:nvSpPr>
          <p:cNvPr id="3" name="Footer Placeholder 2">
            <a:extLst>
              <a:ext uri="{FF2B5EF4-FFF2-40B4-BE49-F238E27FC236}">
                <a16:creationId xmlns:a16="http://schemas.microsoft.com/office/drawing/2014/main" id="{073B1E47-29EC-9121-AE1A-4F8710431E06}"/>
              </a:ext>
            </a:extLst>
          </p:cNvPr>
          <p:cNvSpPr>
            <a:spLocks noGrp="1"/>
          </p:cNvSpPr>
          <p:nvPr>
            <p:ph type="ftr" sz="quarter" idx="11"/>
          </p:nvPr>
        </p:nvSpPr>
        <p:spPr/>
        <p:txBody>
          <a:bodyPr/>
          <a:lstStyle/>
          <a:p>
            <a:r>
              <a:rPr lang="en-IN" b="1"/>
              <a:t>Leveraging Deep Learning for Intelligent Driver Behavior Analysis for Road Safety</a:t>
            </a:r>
          </a:p>
        </p:txBody>
      </p:sp>
      <p:graphicFrame>
        <p:nvGraphicFramePr>
          <p:cNvPr id="7" name="Table 9">
            <a:extLst>
              <a:ext uri="{FF2B5EF4-FFF2-40B4-BE49-F238E27FC236}">
                <a16:creationId xmlns:a16="http://schemas.microsoft.com/office/drawing/2014/main" id="{017CE2CB-5F64-47F1-8D51-8AC01FFCE4FD}"/>
              </a:ext>
            </a:extLst>
          </p:cNvPr>
          <p:cNvGraphicFramePr>
            <a:graphicFrameLocks noGrp="1"/>
          </p:cNvGraphicFramePr>
          <p:nvPr>
            <p:extLst>
              <p:ext uri="{D42A27DB-BD31-4B8C-83A1-F6EECF244321}">
                <p14:modId xmlns:p14="http://schemas.microsoft.com/office/powerpoint/2010/main" val="212330757"/>
              </p:ext>
            </p:extLst>
          </p:nvPr>
        </p:nvGraphicFramePr>
        <p:xfrm>
          <a:off x="392530" y="1102549"/>
          <a:ext cx="8358940" cy="4799286"/>
        </p:xfrm>
        <a:graphic>
          <a:graphicData uri="http://schemas.openxmlformats.org/drawingml/2006/table">
            <a:tbl>
              <a:tblPr firstRow="1" bandRow="1">
                <a:tableStyleId>{5940675A-B579-460E-94D1-54222C63F5DA}</a:tableStyleId>
              </a:tblPr>
              <a:tblGrid>
                <a:gridCol w="953903">
                  <a:extLst>
                    <a:ext uri="{9D8B030D-6E8A-4147-A177-3AD203B41FA5}">
                      <a16:colId xmlns:a16="http://schemas.microsoft.com/office/drawing/2014/main" val="42535709"/>
                    </a:ext>
                  </a:extLst>
                </a:gridCol>
                <a:gridCol w="1727555">
                  <a:extLst>
                    <a:ext uri="{9D8B030D-6E8A-4147-A177-3AD203B41FA5}">
                      <a16:colId xmlns:a16="http://schemas.microsoft.com/office/drawing/2014/main" val="1128833092"/>
                    </a:ext>
                  </a:extLst>
                </a:gridCol>
                <a:gridCol w="1979025">
                  <a:extLst>
                    <a:ext uri="{9D8B030D-6E8A-4147-A177-3AD203B41FA5}">
                      <a16:colId xmlns:a16="http://schemas.microsoft.com/office/drawing/2014/main" val="1994504787"/>
                    </a:ext>
                  </a:extLst>
                </a:gridCol>
                <a:gridCol w="1685800">
                  <a:extLst>
                    <a:ext uri="{9D8B030D-6E8A-4147-A177-3AD203B41FA5}">
                      <a16:colId xmlns:a16="http://schemas.microsoft.com/office/drawing/2014/main" val="2367970565"/>
                    </a:ext>
                  </a:extLst>
                </a:gridCol>
                <a:gridCol w="2012657">
                  <a:extLst>
                    <a:ext uri="{9D8B030D-6E8A-4147-A177-3AD203B41FA5}">
                      <a16:colId xmlns:a16="http://schemas.microsoft.com/office/drawing/2014/main" val="3759393643"/>
                    </a:ext>
                  </a:extLst>
                </a:gridCol>
              </a:tblGrid>
              <a:tr h="786644">
                <a:tc>
                  <a:txBody>
                    <a:bodyPr/>
                    <a:lstStyle/>
                    <a:p>
                      <a:r>
                        <a:rPr lang="en-US" b="1" dirty="0" err="1">
                          <a:latin typeface="Times New Roman" panose="02020603050405020304" pitchFamily="18" charset="0"/>
                          <a:cs typeface="Times New Roman" panose="02020603050405020304" pitchFamily="18" charset="0"/>
                        </a:rPr>
                        <a:t>S.No</a:t>
                      </a:r>
                      <a:endParaRPr lang="en-IN" b="1" dirty="0">
                        <a:latin typeface="Times New Roman" panose="02020603050405020304" pitchFamily="18" charset="0"/>
                        <a:cs typeface="Times New Roman" panose="02020603050405020304" pitchFamily="18" charset="0"/>
                      </a:endParaRPr>
                    </a:p>
                  </a:txBody>
                  <a:tcPr/>
                </a:tc>
                <a:tc>
                  <a:txBody>
                    <a:bodyPr/>
                    <a:lstStyle/>
                    <a:p>
                      <a:r>
                        <a:rPr lang="en-IN" b="1" dirty="0">
                          <a:latin typeface="Times New Roman" panose="02020603050405020304" pitchFamily="18" charset="0"/>
                          <a:cs typeface="Times New Roman" panose="02020603050405020304" pitchFamily="18" charset="0"/>
                        </a:rPr>
                        <a:t>Title of Paper</a:t>
                      </a:r>
                    </a:p>
                  </a:txBody>
                  <a:tcPr/>
                </a:tc>
                <a:tc>
                  <a:txBody>
                    <a:bodyPr/>
                    <a:lstStyle/>
                    <a:p>
                      <a:r>
                        <a:rPr lang="en-US" b="1" dirty="0">
                          <a:latin typeface="Times New Roman" panose="02020603050405020304" pitchFamily="18" charset="0"/>
                          <a:cs typeface="Times New Roman" panose="02020603050405020304" pitchFamily="18" charset="0"/>
                        </a:rPr>
                        <a:t>Methodology</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Advantage</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Disadvantage</a:t>
                      </a:r>
                      <a:endParaRPr lang="en-IN"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76995515"/>
                  </a:ext>
                </a:extLst>
              </a:tr>
              <a:tr h="2000962">
                <a:tc>
                  <a:txBody>
                    <a:bodyPr/>
                    <a:lstStyle/>
                    <a:p>
                      <a:r>
                        <a:rPr lang="en-US" dirty="0">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Deep Learning Approach for Monitoring Driver Activities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Implemented a </a:t>
                      </a:r>
                      <a:r>
                        <a:rPr lang="en-US" b="1" dirty="0" err="1">
                          <a:latin typeface="Times New Roman" panose="02020603050405020304" pitchFamily="18" charset="0"/>
                          <a:cs typeface="Times New Roman" panose="02020603050405020304" pitchFamily="18" charset="0"/>
                        </a:rPr>
                        <a:t>ResNet</a:t>
                      </a:r>
                      <a:r>
                        <a:rPr lang="en-US" b="1" dirty="0">
                          <a:latin typeface="Times New Roman" panose="02020603050405020304" pitchFamily="18" charset="0"/>
                          <a:cs typeface="Times New Roman" panose="02020603050405020304" pitchFamily="18" charset="0"/>
                        </a:rPr>
                        <a:t>-based deep learning model</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Achieved </a:t>
                      </a:r>
                      <a:r>
                        <a:rPr lang="en-US" b="1" dirty="0">
                          <a:latin typeface="Times New Roman" panose="02020603050405020304" pitchFamily="18" charset="0"/>
                          <a:cs typeface="Times New Roman" panose="02020603050405020304" pitchFamily="18" charset="0"/>
                        </a:rPr>
                        <a:t>96% accuracy</a:t>
                      </a:r>
                      <a:r>
                        <a:rPr lang="en-US" dirty="0">
                          <a:latin typeface="Times New Roman" panose="02020603050405020304" pitchFamily="18" charset="0"/>
                          <a:cs typeface="Times New Roman" panose="02020603050405020304" pitchFamily="18" charset="0"/>
                        </a:rPr>
                        <a:t>; Works well with large datasets.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Requires a </a:t>
                      </a:r>
                      <a:r>
                        <a:rPr lang="en-US" b="1" dirty="0">
                          <a:latin typeface="Times New Roman" panose="02020603050405020304" pitchFamily="18" charset="0"/>
                          <a:cs typeface="Times New Roman" panose="02020603050405020304" pitchFamily="18" charset="0"/>
                        </a:rPr>
                        <a:t>large dataset</a:t>
                      </a:r>
                      <a:r>
                        <a:rPr lang="en-US" dirty="0">
                          <a:latin typeface="Times New Roman" panose="02020603050405020304" pitchFamily="18" charset="0"/>
                          <a:cs typeface="Times New Roman" panose="02020603050405020304" pitchFamily="18" charset="0"/>
                        </a:rPr>
                        <a:t> for optimal performance.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79240293"/>
                  </a:ext>
                </a:extLst>
              </a:tr>
              <a:tr h="2000962">
                <a:tc>
                  <a:txBody>
                    <a:bodyPr/>
                    <a:lstStyle/>
                    <a:p>
                      <a:r>
                        <a:rPr lang="en-US" dirty="0">
                          <a:latin typeface="Times New Roman" panose="02020603050405020304" pitchFamily="18" charset="0"/>
                          <a:cs typeface="Times New Roman" panose="02020603050405020304" pitchFamily="18" charset="0"/>
                        </a:rPr>
                        <a:t>4:</a:t>
                      </a:r>
                      <a:endParaRPr lang="en-IN"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AI-Based System for Detecting Distracted Driving in Real-Time</a:t>
                      </a:r>
                      <a:endParaRPr lang="en-IN" dirty="0">
                        <a:latin typeface="Times New Roman" panose="02020603050405020304" pitchFamily="18" charset="0"/>
                        <a:cs typeface="Times New Roman" panose="02020603050405020304" pitchFamily="18" charset="0"/>
                      </a:endParaRPr>
                    </a:p>
                  </a:txBody>
                  <a:tcPr anchor="ctr"/>
                </a:tc>
                <a:tc>
                  <a:txBody>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Used </a:t>
                      </a:r>
                      <a:r>
                        <a:rPr lang="en-US" b="1" dirty="0">
                          <a:latin typeface="Times New Roman" panose="02020603050405020304" pitchFamily="18" charset="0"/>
                          <a:cs typeface="Times New Roman" panose="02020603050405020304" pitchFamily="18" charset="0"/>
                        </a:rPr>
                        <a:t>YOLO (You Only Look Once)</a:t>
                      </a:r>
                      <a:r>
                        <a:rPr lang="en-US" dirty="0">
                          <a:latin typeface="Times New Roman" panose="02020603050405020304" pitchFamily="18" charset="0"/>
                          <a:cs typeface="Times New Roman" panose="02020603050405020304" pitchFamily="18" charset="0"/>
                        </a:rPr>
                        <a:t> for fast object detection.</a:t>
                      </a:r>
                      <a:endParaRPr lang="en-IN"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Real-time implementation possible; Faster than CNN models.</a:t>
                      </a:r>
                      <a:endParaRPr lang="en-IN"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Lower accuracy (</a:t>
                      </a:r>
                      <a:r>
                        <a:rPr lang="en-US" b="1" dirty="0">
                          <a:latin typeface="Times New Roman" panose="02020603050405020304" pitchFamily="18" charset="0"/>
                          <a:cs typeface="Times New Roman" panose="02020603050405020304" pitchFamily="18" charset="0"/>
                        </a:rPr>
                        <a:t>88%</a:t>
                      </a:r>
                      <a:r>
                        <a:rPr lang="en-US" dirty="0">
                          <a:latin typeface="Times New Roman" panose="02020603050405020304" pitchFamily="18" charset="0"/>
                          <a:cs typeface="Times New Roman" panose="02020603050405020304" pitchFamily="18" charset="0"/>
                        </a:rPr>
                        <a:t>) in complex scenarios.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50731324"/>
                  </a:ext>
                </a:extLst>
              </a:tr>
            </a:tbl>
          </a:graphicData>
        </a:graphic>
      </p:graphicFrame>
    </p:spTree>
    <p:extLst>
      <p:ext uri="{BB962C8B-B14F-4D97-AF65-F5344CB8AC3E}">
        <p14:creationId xmlns:p14="http://schemas.microsoft.com/office/powerpoint/2010/main" val="3295057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b="1" dirty="0">
                <a:solidFill>
                  <a:srgbClr val="7030A0"/>
                </a:solidFill>
                <a:latin typeface="Times New Roman" panose="02020603050405020304" pitchFamily="18" charset="0"/>
                <a:cs typeface="Times New Roman" panose="02020603050405020304" pitchFamily="18" charset="0"/>
              </a:rPr>
              <a:t>Literature Survey</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1F558AD7-1919-A8D4-08D5-EFFEF53BCAAA}"/>
              </a:ext>
            </a:extLst>
          </p:cNvPr>
          <p:cNvSpPr>
            <a:spLocks noGrp="1"/>
          </p:cNvSpPr>
          <p:nvPr>
            <p:ph type="sldNum" sz="quarter" idx="12"/>
          </p:nvPr>
        </p:nvSpPr>
        <p:spPr/>
        <p:txBody>
          <a:bodyPr/>
          <a:lstStyle/>
          <a:p>
            <a:fld id="{9D3FF152-60F5-4862-82F9-1190556AA56F}" type="slidenum">
              <a:rPr lang="en-IN" sz="1400" b="1" smtClean="0">
                <a:solidFill>
                  <a:schemeClr val="tx1"/>
                </a:solidFill>
              </a:rPr>
              <a:t>7</a:t>
            </a:fld>
            <a:endParaRPr lang="en-IN" sz="1400" b="1" dirty="0">
              <a:solidFill>
                <a:schemeClr val="tx1"/>
              </a:solidFill>
            </a:endParaRPr>
          </a:p>
        </p:txBody>
      </p:sp>
      <p:sp>
        <p:nvSpPr>
          <p:cNvPr id="3" name="Footer Placeholder 2">
            <a:extLst>
              <a:ext uri="{FF2B5EF4-FFF2-40B4-BE49-F238E27FC236}">
                <a16:creationId xmlns:a16="http://schemas.microsoft.com/office/drawing/2014/main" id="{B59EF146-C917-6BFF-41BA-3CEBC346E67B}"/>
              </a:ext>
            </a:extLst>
          </p:cNvPr>
          <p:cNvSpPr>
            <a:spLocks noGrp="1"/>
          </p:cNvSpPr>
          <p:nvPr>
            <p:ph type="ftr" sz="quarter" idx="11"/>
          </p:nvPr>
        </p:nvSpPr>
        <p:spPr/>
        <p:txBody>
          <a:bodyPr/>
          <a:lstStyle/>
          <a:p>
            <a:r>
              <a:rPr lang="en-IN" b="1"/>
              <a:t>Leveraging Deep Learning for Intelligent Driver Behavior Analysis for Road Safety</a:t>
            </a:r>
          </a:p>
        </p:txBody>
      </p:sp>
      <p:graphicFrame>
        <p:nvGraphicFramePr>
          <p:cNvPr id="5" name="Table 9">
            <a:extLst>
              <a:ext uri="{FF2B5EF4-FFF2-40B4-BE49-F238E27FC236}">
                <a16:creationId xmlns:a16="http://schemas.microsoft.com/office/drawing/2014/main" id="{58C5FCE6-A977-4A61-8F8D-583EA8B9B244}"/>
              </a:ext>
            </a:extLst>
          </p:cNvPr>
          <p:cNvGraphicFramePr>
            <a:graphicFrameLocks noGrp="1"/>
          </p:cNvGraphicFramePr>
          <p:nvPr>
            <p:extLst>
              <p:ext uri="{D42A27DB-BD31-4B8C-83A1-F6EECF244321}">
                <p14:modId xmlns:p14="http://schemas.microsoft.com/office/powerpoint/2010/main" val="502699100"/>
              </p:ext>
            </p:extLst>
          </p:nvPr>
        </p:nvGraphicFramePr>
        <p:xfrm>
          <a:off x="156411" y="1021103"/>
          <a:ext cx="8358940" cy="4766086"/>
        </p:xfrm>
        <a:graphic>
          <a:graphicData uri="http://schemas.openxmlformats.org/drawingml/2006/table">
            <a:tbl>
              <a:tblPr firstRow="1" bandRow="1">
                <a:tableStyleId>{5940675A-B579-460E-94D1-54222C63F5DA}</a:tableStyleId>
              </a:tblPr>
              <a:tblGrid>
                <a:gridCol w="953903">
                  <a:extLst>
                    <a:ext uri="{9D8B030D-6E8A-4147-A177-3AD203B41FA5}">
                      <a16:colId xmlns:a16="http://schemas.microsoft.com/office/drawing/2014/main" val="42535709"/>
                    </a:ext>
                  </a:extLst>
                </a:gridCol>
                <a:gridCol w="1727555">
                  <a:extLst>
                    <a:ext uri="{9D8B030D-6E8A-4147-A177-3AD203B41FA5}">
                      <a16:colId xmlns:a16="http://schemas.microsoft.com/office/drawing/2014/main" val="1128833092"/>
                    </a:ext>
                  </a:extLst>
                </a:gridCol>
                <a:gridCol w="1979025">
                  <a:extLst>
                    <a:ext uri="{9D8B030D-6E8A-4147-A177-3AD203B41FA5}">
                      <a16:colId xmlns:a16="http://schemas.microsoft.com/office/drawing/2014/main" val="1994504787"/>
                    </a:ext>
                  </a:extLst>
                </a:gridCol>
                <a:gridCol w="1685800">
                  <a:extLst>
                    <a:ext uri="{9D8B030D-6E8A-4147-A177-3AD203B41FA5}">
                      <a16:colId xmlns:a16="http://schemas.microsoft.com/office/drawing/2014/main" val="2367970565"/>
                    </a:ext>
                  </a:extLst>
                </a:gridCol>
                <a:gridCol w="2012657">
                  <a:extLst>
                    <a:ext uri="{9D8B030D-6E8A-4147-A177-3AD203B41FA5}">
                      <a16:colId xmlns:a16="http://schemas.microsoft.com/office/drawing/2014/main" val="3759393643"/>
                    </a:ext>
                  </a:extLst>
                </a:gridCol>
              </a:tblGrid>
              <a:tr h="764162">
                <a:tc>
                  <a:txBody>
                    <a:bodyPr/>
                    <a:lstStyle/>
                    <a:p>
                      <a:r>
                        <a:rPr lang="en-US" b="1" dirty="0" err="1">
                          <a:latin typeface="Times New Roman" panose="02020603050405020304" pitchFamily="18" charset="0"/>
                          <a:cs typeface="Times New Roman" panose="02020603050405020304" pitchFamily="18" charset="0"/>
                        </a:rPr>
                        <a:t>S.No</a:t>
                      </a:r>
                      <a:endParaRPr lang="en-IN" b="1" dirty="0">
                        <a:latin typeface="Times New Roman" panose="02020603050405020304" pitchFamily="18" charset="0"/>
                        <a:cs typeface="Times New Roman" panose="02020603050405020304" pitchFamily="18" charset="0"/>
                      </a:endParaRPr>
                    </a:p>
                  </a:txBody>
                  <a:tcPr/>
                </a:tc>
                <a:tc>
                  <a:txBody>
                    <a:bodyPr/>
                    <a:lstStyle/>
                    <a:p>
                      <a:r>
                        <a:rPr lang="en-IN" b="1" dirty="0">
                          <a:latin typeface="Times New Roman" panose="02020603050405020304" pitchFamily="18" charset="0"/>
                          <a:cs typeface="Times New Roman" panose="02020603050405020304" pitchFamily="18" charset="0"/>
                        </a:rPr>
                        <a:t>Title of Paper</a:t>
                      </a:r>
                    </a:p>
                  </a:txBody>
                  <a:tcPr/>
                </a:tc>
                <a:tc>
                  <a:txBody>
                    <a:bodyPr/>
                    <a:lstStyle/>
                    <a:p>
                      <a:r>
                        <a:rPr lang="en-US" b="1" dirty="0">
                          <a:latin typeface="Times New Roman" panose="02020603050405020304" pitchFamily="18" charset="0"/>
                          <a:cs typeface="Times New Roman" panose="02020603050405020304" pitchFamily="18" charset="0"/>
                        </a:rPr>
                        <a:t>Methodology</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Advantage</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Disadvantage</a:t>
                      </a:r>
                      <a:endParaRPr lang="en-IN"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76995515"/>
                  </a:ext>
                </a:extLst>
              </a:tr>
              <a:tr h="2000962">
                <a:tc>
                  <a:txBody>
                    <a:bodyPr/>
                    <a:lstStyle/>
                    <a:p>
                      <a:r>
                        <a:rPr lang="en-US" dirty="0">
                          <a:latin typeface="Times New Roman" panose="02020603050405020304" pitchFamily="18" charset="0"/>
                          <a:cs typeface="Times New Roman" panose="02020603050405020304" pitchFamily="18" charset="0"/>
                        </a:rPr>
                        <a:t>5:</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Impact of Mobile Phone Usage on Driving </a:t>
                      </a:r>
                      <a:r>
                        <a:rPr lang="en-US" dirty="0" err="1">
                          <a:latin typeface="Times New Roman" panose="02020603050405020304" pitchFamily="18" charset="0"/>
                          <a:cs typeface="Times New Roman" panose="02020603050405020304" pitchFamily="18" charset="0"/>
                        </a:rPr>
                        <a:t>Performanc</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Psychological study using </a:t>
                      </a:r>
                      <a:r>
                        <a:rPr lang="en-US" b="1" dirty="0">
                          <a:latin typeface="Times New Roman" panose="02020603050405020304" pitchFamily="18" charset="0"/>
                          <a:cs typeface="Times New Roman" panose="02020603050405020304" pitchFamily="18" charset="0"/>
                        </a:rPr>
                        <a:t>reaction time measurements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Scientifically proved that </a:t>
                      </a:r>
                      <a:r>
                        <a:rPr lang="en-US" b="1" dirty="0">
                          <a:latin typeface="Times New Roman" panose="02020603050405020304" pitchFamily="18" charset="0"/>
                          <a:cs typeface="Times New Roman" panose="02020603050405020304" pitchFamily="18" charset="0"/>
                        </a:rPr>
                        <a:t>texting increases accident risk by 23 times</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Not an AI-based solution; No automated detection.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79240293"/>
                  </a:ext>
                </a:extLst>
              </a:tr>
              <a:tr h="2000962">
                <a:tc>
                  <a:txBody>
                    <a:bodyPr/>
                    <a:lstStyle/>
                    <a:p>
                      <a:r>
                        <a:rPr lang="en-US" dirty="0">
                          <a:latin typeface="Times New Roman" panose="02020603050405020304" pitchFamily="18" charset="0"/>
                          <a:cs typeface="Times New Roman" panose="02020603050405020304" pitchFamily="18" charset="0"/>
                        </a:rPr>
                        <a:t>6:</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Driver Monitoring System Using Computer Vision</a:t>
                      </a:r>
                    </a:p>
                  </a:txBody>
                  <a:tcPr/>
                </a:tc>
                <a:tc>
                  <a:txBody>
                    <a:bodyPr/>
                    <a:lstStyle/>
                    <a:p>
                      <a:r>
                        <a:rPr lang="en-US" dirty="0">
                          <a:latin typeface="Times New Roman" panose="02020603050405020304" pitchFamily="18" charset="0"/>
                          <a:cs typeface="Times New Roman" panose="02020603050405020304" pitchFamily="18" charset="0"/>
                        </a:rPr>
                        <a:t>Used </a:t>
                      </a:r>
                      <a:r>
                        <a:rPr lang="en-US" b="1" dirty="0">
                          <a:latin typeface="Times New Roman" panose="02020603050405020304" pitchFamily="18" charset="0"/>
                          <a:cs typeface="Times New Roman" panose="02020603050405020304" pitchFamily="18" charset="0"/>
                        </a:rPr>
                        <a:t>OpenCV and </a:t>
                      </a:r>
                      <a:r>
                        <a:rPr lang="en-US" b="1" dirty="0" err="1">
                          <a:latin typeface="Times New Roman" panose="02020603050405020304" pitchFamily="18" charset="0"/>
                          <a:cs typeface="Times New Roman" panose="02020603050405020304" pitchFamily="18" charset="0"/>
                        </a:rPr>
                        <a:t>Haar</a:t>
                      </a:r>
                      <a:r>
                        <a:rPr lang="en-US" b="1" dirty="0">
                          <a:latin typeface="Times New Roman" panose="02020603050405020304" pitchFamily="18" charset="0"/>
                          <a:cs typeface="Times New Roman" panose="02020603050405020304" pitchFamily="18" charset="0"/>
                        </a:rPr>
                        <a:t> Cascades</a:t>
                      </a:r>
                      <a:r>
                        <a:rPr lang="en-US" dirty="0">
                          <a:latin typeface="Times New Roman" panose="02020603050405020304" pitchFamily="18" charset="0"/>
                          <a:cs typeface="Times New Roman" panose="02020603050405020304" pitchFamily="18" charset="0"/>
                        </a:rPr>
                        <a:t> for </a:t>
                      </a:r>
                      <a:r>
                        <a:rPr lang="en-US" b="1" dirty="0">
                          <a:latin typeface="Times New Roman" panose="02020603050405020304" pitchFamily="18" charset="0"/>
                          <a:cs typeface="Times New Roman" panose="02020603050405020304" pitchFamily="18" charset="0"/>
                        </a:rPr>
                        <a:t>eye movement tracking</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Works in </a:t>
                      </a:r>
                      <a:r>
                        <a:rPr lang="en-US" b="1" dirty="0">
                          <a:latin typeface="Times New Roman" panose="02020603050405020304" pitchFamily="18" charset="0"/>
                          <a:cs typeface="Times New Roman" panose="02020603050405020304" pitchFamily="18" charset="0"/>
                        </a:rPr>
                        <a:t>low-light conditions</a:t>
                      </a:r>
                      <a:r>
                        <a:rPr lang="en-US" dirty="0">
                          <a:latin typeface="Times New Roman" panose="02020603050405020304" pitchFamily="18" charset="0"/>
                          <a:cs typeface="Times New Roman" panose="02020603050405020304" pitchFamily="18" charset="0"/>
                        </a:rPr>
                        <a:t>; Less computational power needed.</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Accuracy is </a:t>
                      </a:r>
                      <a:r>
                        <a:rPr lang="en-US" b="1" dirty="0">
                          <a:latin typeface="Times New Roman" panose="02020603050405020304" pitchFamily="18" charset="0"/>
                          <a:cs typeface="Times New Roman" panose="02020603050405020304" pitchFamily="18" charset="0"/>
                        </a:rPr>
                        <a:t>only 80%</a:t>
                      </a:r>
                      <a:r>
                        <a:rPr lang="en-US" dirty="0">
                          <a:latin typeface="Times New Roman" panose="02020603050405020304" pitchFamily="18" charset="0"/>
                          <a:cs typeface="Times New Roman" panose="02020603050405020304" pitchFamily="18" charset="0"/>
                        </a:rPr>
                        <a:t>; Not robust in different lighting conditions.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50731324"/>
                  </a:ext>
                </a:extLst>
              </a:tr>
            </a:tbl>
          </a:graphicData>
        </a:graphic>
      </p:graphicFrame>
    </p:spTree>
    <p:extLst>
      <p:ext uri="{BB962C8B-B14F-4D97-AF65-F5344CB8AC3E}">
        <p14:creationId xmlns:p14="http://schemas.microsoft.com/office/powerpoint/2010/main" val="4049645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741D17C-A320-4A26-B30D-23F90DB93926}"/>
              </a:ext>
            </a:extLst>
          </p:cNvPr>
          <p:cNvSpPr>
            <a:spLocks noGrp="1"/>
          </p:cNvSpPr>
          <p:nvPr>
            <p:ph type="ftr" sz="quarter" idx="11"/>
          </p:nvPr>
        </p:nvSpPr>
        <p:spPr/>
        <p:txBody>
          <a:bodyPr/>
          <a:lstStyle/>
          <a:p>
            <a:r>
              <a:rPr lang="en-IN" b="1"/>
              <a:t>Leveraging Deep Learning for Intelligent Driver Behavior Analysis for Road Safety</a:t>
            </a:r>
          </a:p>
        </p:txBody>
      </p:sp>
      <p:sp>
        <p:nvSpPr>
          <p:cNvPr id="5" name="Slide Number Placeholder 4">
            <a:extLst>
              <a:ext uri="{FF2B5EF4-FFF2-40B4-BE49-F238E27FC236}">
                <a16:creationId xmlns:a16="http://schemas.microsoft.com/office/drawing/2014/main" id="{7B854D9D-2C2E-4862-B4D8-716304798093}"/>
              </a:ext>
            </a:extLst>
          </p:cNvPr>
          <p:cNvSpPr>
            <a:spLocks noGrp="1"/>
          </p:cNvSpPr>
          <p:nvPr>
            <p:ph type="sldNum" sz="quarter" idx="12"/>
          </p:nvPr>
        </p:nvSpPr>
        <p:spPr/>
        <p:txBody>
          <a:bodyPr/>
          <a:lstStyle/>
          <a:p>
            <a:fld id="{9D3FF152-60F5-4862-82F9-1190556AA56F}" type="slidenum">
              <a:rPr lang="en-IN" smtClean="0"/>
              <a:t>8</a:t>
            </a:fld>
            <a:endParaRPr lang="en-IN"/>
          </a:p>
        </p:txBody>
      </p:sp>
      <p:sp>
        <p:nvSpPr>
          <p:cNvPr id="6" name="Title 1">
            <a:extLst>
              <a:ext uri="{FF2B5EF4-FFF2-40B4-BE49-F238E27FC236}">
                <a16:creationId xmlns:a16="http://schemas.microsoft.com/office/drawing/2014/main" id="{DBD4A3C9-6016-4829-B199-2ED3F727A2F7}"/>
              </a:ext>
            </a:extLst>
          </p:cNvPr>
          <p:cNvSpPr>
            <a:spLocks noGrp="1"/>
          </p:cNvSpPr>
          <p:nvPr>
            <p:ph type="title"/>
          </p:nvPr>
        </p:nvSpPr>
        <p:spPr>
          <a:xfrm>
            <a:off x="628650" y="165991"/>
            <a:ext cx="7886700" cy="530258"/>
          </a:xfrm>
        </p:spPr>
        <p:txBody>
          <a:bodyPr>
            <a:noAutofit/>
          </a:bodyPr>
          <a:lstStyle/>
          <a:p>
            <a:pPr algn="ctr"/>
            <a:r>
              <a:rPr lang="en-US" b="1" dirty="0">
                <a:solidFill>
                  <a:srgbClr val="7030A0"/>
                </a:solidFill>
                <a:latin typeface="Times New Roman" panose="02020603050405020304" pitchFamily="18" charset="0"/>
                <a:cs typeface="Times New Roman" panose="02020603050405020304" pitchFamily="18" charset="0"/>
              </a:rPr>
              <a:t>Literature Survey</a:t>
            </a:r>
            <a:endParaRPr lang="en-IN" sz="3600" b="1" dirty="0">
              <a:solidFill>
                <a:srgbClr val="7030A0"/>
              </a:solidFill>
              <a:latin typeface="Times New Roman" panose="02020603050405020304" pitchFamily="18" charset="0"/>
              <a:cs typeface="Times New Roman" panose="02020603050405020304" pitchFamily="18" charset="0"/>
            </a:endParaRPr>
          </a:p>
        </p:txBody>
      </p:sp>
      <p:graphicFrame>
        <p:nvGraphicFramePr>
          <p:cNvPr id="7" name="Table 9">
            <a:extLst>
              <a:ext uri="{FF2B5EF4-FFF2-40B4-BE49-F238E27FC236}">
                <a16:creationId xmlns:a16="http://schemas.microsoft.com/office/drawing/2014/main" id="{E338402F-64D1-4F05-9F49-8E7F19F53FF2}"/>
              </a:ext>
            </a:extLst>
          </p:cNvPr>
          <p:cNvGraphicFramePr>
            <a:graphicFrameLocks noGrp="1"/>
          </p:cNvGraphicFramePr>
          <p:nvPr>
            <p:extLst>
              <p:ext uri="{D42A27DB-BD31-4B8C-83A1-F6EECF244321}">
                <p14:modId xmlns:p14="http://schemas.microsoft.com/office/powerpoint/2010/main" val="2356325471"/>
              </p:ext>
            </p:extLst>
          </p:nvPr>
        </p:nvGraphicFramePr>
        <p:xfrm>
          <a:off x="156411" y="1021103"/>
          <a:ext cx="8358940" cy="4766086"/>
        </p:xfrm>
        <a:graphic>
          <a:graphicData uri="http://schemas.openxmlformats.org/drawingml/2006/table">
            <a:tbl>
              <a:tblPr firstRow="1" bandRow="1">
                <a:tableStyleId>{5940675A-B579-460E-94D1-54222C63F5DA}</a:tableStyleId>
              </a:tblPr>
              <a:tblGrid>
                <a:gridCol w="953903">
                  <a:extLst>
                    <a:ext uri="{9D8B030D-6E8A-4147-A177-3AD203B41FA5}">
                      <a16:colId xmlns:a16="http://schemas.microsoft.com/office/drawing/2014/main" val="42535709"/>
                    </a:ext>
                  </a:extLst>
                </a:gridCol>
                <a:gridCol w="1727555">
                  <a:extLst>
                    <a:ext uri="{9D8B030D-6E8A-4147-A177-3AD203B41FA5}">
                      <a16:colId xmlns:a16="http://schemas.microsoft.com/office/drawing/2014/main" val="1128833092"/>
                    </a:ext>
                  </a:extLst>
                </a:gridCol>
                <a:gridCol w="1979025">
                  <a:extLst>
                    <a:ext uri="{9D8B030D-6E8A-4147-A177-3AD203B41FA5}">
                      <a16:colId xmlns:a16="http://schemas.microsoft.com/office/drawing/2014/main" val="1994504787"/>
                    </a:ext>
                  </a:extLst>
                </a:gridCol>
                <a:gridCol w="1685800">
                  <a:extLst>
                    <a:ext uri="{9D8B030D-6E8A-4147-A177-3AD203B41FA5}">
                      <a16:colId xmlns:a16="http://schemas.microsoft.com/office/drawing/2014/main" val="2367970565"/>
                    </a:ext>
                  </a:extLst>
                </a:gridCol>
                <a:gridCol w="2012657">
                  <a:extLst>
                    <a:ext uri="{9D8B030D-6E8A-4147-A177-3AD203B41FA5}">
                      <a16:colId xmlns:a16="http://schemas.microsoft.com/office/drawing/2014/main" val="3759393643"/>
                    </a:ext>
                  </a:extLst>
                </a:gridCol>
              </a:tblGrid>
              <a:tr h="764162">
                <a:tc>
                  <a:txBody>
                    <a:bodyPr/>
                    <a:lstStyle/>
                    <a:p>
                      <a:r>
                        <a:rPr lang="en-US" b="1" dirty="0" err="1">
                          <a:latin typeface="Times New Roman" panose="02020603050405020304" pitchFamily="18" charset="0"/>
                          <a:cs typeface="Times New Roman" panose="02020603050405020304" pitchFamily="18" charset="0"/>
                        </a:rPr>
                        <a:t>S.No</a:t>
                      </a:r>
                      <a:endParaRPr lang="en-IN" b="1" dirty="0">
                        <a:latin typeface="Times New Roman" panose="02020603050405020304" pitchFamily="18" charset="0"/>
                        <a:cs typeface="Times New Roman" panose="02020603050405020304" pitchFamily="18" charset="0"/>
                      </a:endParaRPr>
                    </a:p>
                  </a:txBody>
                  <a:tcPr/>
                </a:tc>
                <a:tc>
                  <a:txBody>
                    <a:bodyPr/>
                    <a:lstStyle/>
                    <a:p>
                      <a:r>
                        <a:rPr lang="en-IN" b="1" dirty="0">
                          <a:latin typeface="Times New Roman" panose="02020603050405020304" pitchFamily="18" charset="0"/>
                          <a:cs typeface="Times New Roman" panose="02020603050405020304" pitchFamily="18" charset="0"/>
                        </a:rPr>
                        <a:t>Title of Paper</a:t>
                      </a:r>
                    </a:p>
                  </a:txBody>
                  <a:tcPr/>
                </a:tc>
                <a:tc>
                  <a:txBody>
                    <a:bodyPr/>
                    <a:lstStyle/>
                    <a:p>
                      <a:r>
                        <a:rPr lang="en-US" b="1" dirty="0">
                          <a:latin typeface="Times New Roman" panose="02020603050405020304" pitchFamily="18" charset="0"/>
                          <a:cs typeface="Times New Roman" panose="02020603050405020304" pitchFamily="18" charset="0"/>
                        </a:rPr>
                        <a:t>Methodology</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Advantage</a:t>
                      </a:r>
                      <a:endParaRPr lang="en-IN" b="1" dirty="0">
                        <a:latin typeface="Times New Roman" panose="02020603050405020304" pitchFamily="18" charset="0"/>
                        <a:cs typeface="Times New Roman" panose="02020603050405020304" pitchFamily="18" charset="0"/>
                      </a:endParaRPr>
                    </a:p>
                  </a:txBody>
                  <a:tcPr/>
                </a:tc>
                <a:tc>
                  <a:txBody>
                    <a:bodyPr/>
                    <a:lstStyle/>
                    <a:p>
                      <a:r>
                        <a:rPr lang="en-US" b="1" dirty="0">
                          <a:latin typeface="Times New Roman" panose="02020603050405020304" pitchFamily="18" charset="0"/>
                          <a:cs typeface="Times New Roman" panose="02020603050405020304" pitchFamily="18" charset="0"/>
                        </a:rPr>
                        <a:t>Disadvantage</a:t>
                      </a:r>
                      <a:endParaRPr lang="en-IN"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76995515"/>
                  </a:ext>
                </a:extLst>
              </a:tr>
              <a:tr h="2000962">
                <a:tc>
                  <a:txBody>
                    <a:bodyPr/>
                    <a:lstStyle/>
                    <a:p>
                      <a:r>
                        <a:rPr lang="en-US" dirty="0">
                          <a:latin typeface="Times New Roman" panose="02020603050405020304" pitchFamily="18" charset="0"/>
                          <a:cs typeface="Times New Roman" panose="02020603050405020304" pitchFamily="18" charset="0"/>
                        </a:rPr>
                        <a:t>7:</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A Comparative Study of ML Models for Driver Distraction Detection</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Compared </a:t>
                      </a:r>
                      <a:r>
                        <a:rPr lang="en-US" b="1" dirty="0">
                          <a:latin typeface="Times New Roman" panose="02020603050405020304" pitchFamily="18" charset="0"/>
                          <a:cs typeface="Times New Roman" panose="02020603050405020304" pitchFamily="18" charset="0"/>
                        </a:rPr>
                        <a:t>SVM, Decision Trees, Random Forest, and CNN</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Proved that </a:t>
                      </a:r>
                      <a:r>
                        <a:rPr lang="en-US" b="1" dirty="0">
                          <a:latin typeface="Times New Roman" panose="02020603050405020304" pitchFamily="18" charset="0"/>
                          <a:cs typeface="Times New Roman" panose="02020603050405020304" pitchFamily="18" charset="0"/>
                        </a:rPr>
                        <a:t>CNN performs best for image-based tasks</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Traditional ML models had </a:t>
                      </a:r>
                      <a:r>
                        <a:rPr lang="en-US" b="1" dirty="0">
                          <a:latin typeface="Times New Roman" panose="02020603050405020304" pitchFamily="18" charset="0"/>
                          <a:cs typeface="Times New Roman" panose="02020603050405020304" pitchFamily="18" charset="0"/>
                        </a:rPr>
                        <a:t>low accuracy</a:t>
                      </a:r>
                      <a:r>
                        <a:rPr lang="en-US" dirty="0">
                          <a:latin typeface="Times New Roman" panose="02020603050405020304" pitchFamily="18" charset="0"/>
                          <a:cs typeface="Times New Roman" panose="02020603050405020304" pitchFamily="18" charset="0"/>
                        </a:rPr>
                        <a:t> (&lt;80%).</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79240293"/>
                  </a:ext>
                </a:extLst>
              </a:tr>
              <a:tr h="2000962">
                <a:tc>
                  <a:txBody>
                    <a:bodyPr/>
                    <a:lstStyle/>
                    <a:p>
                      <a:r>
                        <a:rPr lang="en-US" dirty="0">
                          <a:latin typeface="Times New Roman" panose="02020603050405020304" pitchFamily="18" charset="0"/>
                          <a:cs typeface="Times New Roman" panose="02020603050405020304" pitchFamily="18" charset="0"/>
                        </a:rPr>
                        <a:t>8:</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Improving Road Safety Through AI-Based Driver Monitoring</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Integrated </a:t>
                      </a:r>
                      <a:r>
                        <a:rPr lang="en-US" b="1" dirty="0">
                          <a:latin typeface="Times New Roman" panose="02020603050405020304" pitchFamily="18" charset="0"/>
                          <a:cs typeface="Times New Roman" panose="02020603050405020304" pitchFamily="18" charset="0"/>
                        </a:rPr>
                        <a:t>AI with sensor data (steering, acceleration, and images)</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Real-world implementation; </a:t>
                      </a:r>
                      <a:r>
                        <a:rPr lang="en-US" b="1" dirty="0">
                          <a:latin typeface="Times New Roman" panose="02020603050405020304" pitchFamily="18" charset="0"/>
                          <a:cs typeface="Times New Roman" panose="02020603050405020304" pitchFamily="18" charset="0"/>
                        </a:rPr>
                        <a:t>Combines multiple data sources</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Requires </a:t>
                      </a:r>
                      <a:r>
                        <a:rPr lang="en-US" b="1" dirty="0">
                          <a:latin typeface="Times New Roman" panose="02020603050405020304" pitchFamily="18" charset="0"/>
                          <a:cs typeface="Times New Roman" panose="02020603050405020304" pitchFamily="18" charset="0"/>
                        </a:rPr>
                        <a:t>additional hardware (sensors &amp; cameras)</a:t>
                      </a:r>
                      <a:r>
                        <a:rPr lang="en-US" dirty="0">
                          <a:latin typeface="Times New Roman" panose="02020603050405020304" pitchFamily="18" charset="0"/>
                          <a:cs typeface="Times New Roman" panose="02020603050405020304" pitchFamily="18" charset="0"/>
                        </a:rPr>
                        <a:t> for implementation.</a:t>
                      </a:r>
                    </a:p>
                  </a:txBody>
                  <a:tcPr anchor="ctr"/>
                </a:tc>
                <a:extLst>
                  <a:ext uri="{0D108BD9-81ED-4DB2-BD59-A6C34878D82A}">
                    <a16:rowId xmlns:a16="http://schemas.microsoft.com/office/drawing/2014/main" val="2650731324"/>
                  </a:ext>
                </a:extLst>
              </a:tr>
            </a:tbl>
          </a:graphicData>
        </a:graphic>
      </p:graphicFrame>
    </p:spTree>
    <p:extLst>
      <p:ext uri="{BB962C8B-B14F-4D97-AF65-F5344CB8AC3E}">
        <p14:creationId xmlns:p14="http://schemas.microsoft.com/office/powerpoint/2010/main" val="37823989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480856"/>
            <a:ext cx="7886700" cy="530258"/>
          </a:xfrm>
        </p:spPr>
        <p:txBody>
          <a:bodyPr>
            <a:noAutofit/>
          </a:bodyPr>
          <a:lstStyle/>
          <a:p>
            <a:pPr algn="ctr"/>
            <a:r>
              <a:rPr lang="en-US"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Problem Statement</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9985F6D-C615-D78B-6019-8D3BBB5A2B93}"/>
              </a:ext>
            </a:extLst>
          </p:cNvPr>
          <p:cNvSpPr>
            <a:spLocks noGrp="1"/>
          </p:cNvSpPr>
          <p:nvPr>
            <p:ph type="sldNum" sz="quarter" idx="12"/>
          </p:nvPr>
        </p:nvSpPr>
        <p:spPr/>
        <p:txBody>
          <a:bodyPr/>
          <a:lstStyle/>
          <a:p>
            <a:fld id="{9D3FF152-60F5-4862-82F9-1190556AA56F}" type="slidenum">
              <a:rPr lang="en-IN" sz="1400" b="1" smtClean="0">
                <a:solidFill>
                  <a:schemeClr val="tx1"/>
                </a:solidFill>
              </a:rPr>
              <a:t>9</a:t>
            </a:fld>
            <a:endParaRPr lang="en-IN" sz="1400" b="1" dirty="0">
              <a:solidFill>
                <a:schemeClr val="tx1"/>
              </a:solidFill>
            </a:endParaRPr>
          </a:p>
        </p:txBody>
      </p:sp>
      <p:sp>
        <p:nvSpPr>
          <p:cNvPr id="5" name="Footer Placeholder 4">
            <a:extLst>
              <a:ext uri="{FF2B5EF4-FFF2-40B4-BE49-F238E27FC236}">
                <a16:creationId xmlns:a16="http://schemas.microsoft.com/office/drawing/2014/main" id="{9AB47FE8-5ECE-D477-E2CB-E5C8C7F085CF}"/>
              </a:ext>
            </a:extLst>
          </p:cNvPr>
          <p:cNvSpPr>
            <a:spLocks noGrp="1"/>
          </p:cNvSpPr>
          <p:nvPr>
            <p:ph type="ftr" sz="quarter" idx="11"/>
          </p:nvPr>
        </p:nvSpPr>
        <p:spPr/>
        <p:txBody>
          <a:bodyPr/>
          <a:lstStyle/>
          <a:p>
            <a:r>
              <a:rPr lang="en-IN" b="1"/>
              <a:t>Leveraging Deep Learning for Intelligent Driver Behavior Analysis for Road Safety</a:t>
            </a:r>
          </a:p>
        </p:txBody>
      </p:sp>
      <p:sp>
        <p:nvSpPr>
          <p:cNvPr id="3" name="TextBox 2">
            <a:extLst>
              <a:ext uri="{FF2B5EF4-FFF2-40B4-BE49-F238E27FC236}">
                <a16:creationId xmlns:a16="http://schemas.microsoft.com/office/drawing/2014/main" id="{EA04B423-AD53-CEF3-0E92-BD29360647D5}"/>
              </a:ext>
            </a:extLst>
          </p:cNvPr>
          <p:cNvSpPr txBox="1"/>
          <p:nvPr/>
        </p:nvSpPr>
        <p:spPr>
          <a:xfrm>
            <a:off x="0" y="1859339"/>
            <a:ext cx="9144000" cy="3139321"/>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Current methods for analyzing driver behavior are often insufficient.</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Existing systems may not be accurate enough to reliably predict dangerous actions.</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Lack of real-time feedback and intervention in current systems.</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need for a more robust and efficient solution to reduce accidents.</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limitations of the existing system (MFDS-STGCN) in terms of computational cost, lack of architectural comparison, and efficiency.</a:t>
            </a:r>
          </a:p>
          <a:p>
            <a:pPr marL="28575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6654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333054"/>
            <a:ext cx="7886700" cy="530258"/>
          </a:xfrm>
        </p:spPr>
        <p:txBody>
          <a:bodyPr>
            <a:noAutofit/>
          </a:bodyPr>
          <a:lstStyle/>
          <a:p>
            <a:pPr algn="ctr"/>
            <a:r>
              <a:rPr lang="en-US" b="1" dirty="0">
                <a:solidFill>
                  <a:srgbClr val="7030A0"/>
                </a:solidFill>
                <a:latin typeface="Times New Roman" panose="02020603050405020304" pitchFamily="18" charset="0"/>
                <a:cs typeface="Times New Roman" panose="02020603050405020304" pitchFamily="18" charset="0"/>
              </a:rPr>
              <a:t>Proposed System</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DB30AD6-C0F0-3ECE-0069-7C5248013755}"/>
              </a:ext>
            </a:extLst>
          </p:cNvPr>
          <p:cNvSpPr>
            <a:spLocks noGrp="1"/>
          </p:cNvSpPr>
          <p:nvPr>
            <p:ph type="sldNum" sz="quarter" idx="12"/>
          </p:nvPr>
        </p:nvSpPr>
        <p:spPr/>
        <p:txBody>
          <a:bodyPr/>
          <a:lstStyle/>
          <a:p>
            <a:fld id="{9D3FF152-60F5-4862-82F9-1190556AA56F}" type="slidenum">
              <a:rPr lang="en-IN" sz="1400" b="1" smtClean="0">
                <a:solidFill>
                  <a:schemeClr val="tx1"/>
                </a:solidFill>
              </a:rPr>
              <a:t>10</a:t>
            </a:fld>
            <a:endParaRPr lang="en-IN" sz="1400" b="1" dirty="0">
              <a:solidFill>
                <a:schemeClr val="tx1"/>
              </a:solidFill>
            </a:endParaRPr>
          </a:p>
        </p:txBody>
      </p:sp>
      <p:sp>
        <p:nvSpPr>
          <p:cNvPr id="5" name="Footer Placeholder 4">
            <a:extLst>
              <a:ext uri="{FF2B5EF4-FFF2-40B4-BE49-F238E27FC236}">
                <a16:creationId xmlns:a16="http://schemas.microsoft.com/office/drawing/2014/main" id="{0DB4B592-9668-B593-B60D-EA7A50346ECC}"/>
              </a:ext>
            </a:extLst>
          </p:cNvPr>
          <p:cNvSpPr>
            <a:spLocks noGrp="1"/>
          </p:cNvSpPr>
          <p:nvPr>
            <p:ph type="ftr" sz="quarter" idx="11"/>
          </p:nvPr>
        </p:nvSpPr>
        <p:spPr/>
        <p:txBody>
          <a:bodyPr/>
          <a:lstStyle/>
          <a:p>
            <a:r>
              <a:rPr lang="en-IN" b="1"/>
              <a:t>Leveraging Deep Learning for Intelligent Driver Behavior Analysis for Road Safety</a:t>
            </a:r>
          </a:p>
        </p:txBody>
      </p:sp>
      <p:sp>
        <p:nvSpPr>
          <p:cNvPr id="6" name="TextBox 5">
            <a:extLst>
              <a:ext uri="{FF2B5EF4-FFF2-40B4-BE49-F238E27FC236}">
                <a16:creationId xmlns:a16="http://schemas.microsoft.com/office/drawing/2014/main" id="{CDB54C7A-F201-54DD-B184-E8E598139E6A}"/>
              </a:ext>
            </a:extLst>
          </p:cNvPr>
          <p:cNvSpPr txBox="1"/>
          <p:nvPr/>
        </p:nvSpPr>
        <p:spPr>
          <a:xfrm>
            <a:off x="0" y="1114738"/>
            <a:ext cx="9144000" cy="5355312"/>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the proposed system for leveraging deep learning for intelligent driver behavior analysis using CNN (Convolutional Neural Networks) and TensorFlow integrated with Django, the focus is on enhancing road safety through advanced data analytics.</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system aims to deploy a CNN model trained on extensive datasets to analyze driver behavior.</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By processing this data with TensorFlow, the system can detect and predict behaviors such as drowsiness, distraction, aggressive driving, and adherence to traffic rules.</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Django serves as the backend framework, facilitating seamless integration of machine learning models for predictive analysis.</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not only identifies potentially risky behaviors but also provides timely alerts and feedback to drivers and fleet managers.</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proactive approach enables preemptive action to mitigate risks, thereby enhancing overall safety on the roads.</a:t>
            </a:r>
          </a:p>
          <a:p>
            <a:pPr marL="28575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3309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765759"/>
            <a:ext cx="7886700" cy="530258"/>
          </a:xfrm>
        </p:spPr>
        <p:txBody>
          <a:bodyPr>
            <a:noAutofit/>
          </a:bodyPr>
          <a:lstStyle/>
          <a:p>
            <a:pPr algn="ctr"/>
            <a:r>
              <a:rPr lang="en-US" b="1" dirty="0">
                <a:solidFill>
                  <a:srgbClr val="7030A0"/>
                </a:solidFill>
                <a:latin typeface="Times New Roman" panose="02020603050405020304" pitchFamily="18" charset="0"/>
                <a:cs typeface="Times New Roman" panose="02020603050405020304" pitchFamily="18" charset="0"/>
              </a:rPr>
              <a:t>Software / Hardware used</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894247B-9CF2-A38D-3B41-D90F4E4CF4C0}"/>
              </a:ext>
            </a:extLst>
          </p:cNvPr>
          <p:cNvSpPr>
            <a:spLocks noGrp="1"/>
          </p:cNvSpPr>
          <p:nvPr>
            <p:ph type="sldNum" sz="quarter" idx="12"/>
          </p:nvPr>
        </p:nvSpPr>
        <p:spPr/>
        <p:txBody>
          <a:bodyPr/>
          <a:lstStyle/>
          <a:p>
            <a:fld id="{9D3FF152-60F5-4862-82F9-1190556AA56F}" type="slidenum">
              <a:rPr lang="en-IN" sz="1400" b="1" smtClean="0">
                <a:solidFill>
                  <a:schemeClr val="tx1"/>
                </a:solidFill>
              </a:rPr>
              <a:t>11</a:t>
            </a:fld>
            <a:endParaRPr lang="en-IN" sz="1400" b="1" dirty="0">
              <a:solidFill>
                <a:schemeClr val="tx1"/>
              </a:solidFill>
            </a:endParaRPr>
          </a:p>
        </p:txBody>
      </p:sp>
      <p:sp>
        <p:nvSpPr>
          <p:cNvPr id="5" name="Footer Placeholder 4">
            <a:extLst>
              <a:ext uri="{FF2B5EF4-FFF2-40B4-BE49-F238E27FC236}">
                <a16:creationId xmlns:a16="http://schemas.microsoft.com/office/drawing/2014/main" id="{4A3E7582-B1E8-EAD0-208E-A369B8300F04}"/>
              </a:ext>
            </a:extLst>
          </p:cNvPr>
          <p:cNvSpPr>
            <a:spLocks noGrp="1"/>
          </p:cNvSpPr>
          <p:nvPr>
            <p:ph type="ftr" sz="quarter" idx="11"/>
          </p:nvPr>
        </p:nvSpPr>
        <p:spPr/>
        <p:txBody>
          <a:bodyPr/>
          <a:lstStyle/>
          <a:p>
            <a:r>
              <a:rPr lang="en-IN" b="1"/>
              <a:t>Leveraging Deep Learning for Intelligent Driver Behavior Analysis for Road Safety</a:t>
            </a:r>
          </a:p>
        </p:txBody>
      </p:sp>
      <p:sp>
        <p:nvSpPr>
          <p:cNvPr id="3" name="TextBox 2">
            <a:extLst>
              <a:ext uri="{FF2B5EF4-FFF2-40B4-BE49-F238E27FC236}">
                <a16:creationId xmlns:a16="http://schemas.microsoft.com/office/drawing/2014/main" id="{5952F474-1F53-0A89-53AF-3B6DFA55E4E7}"/>
              </a:ext>
            </a:extLst>
          </p:cNvPr>
          <p:cNvSpPr txBox="1"/>
          <p:nvPr/>
        </p:nvSpPr>
        <p:spPr>
          <a:xfrm>
            <a:off x="285136" y="1859339"/>
            <a:ext cx="9144000" cy="3139321"/>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Operating System: Windows</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Tool: Anaconda with </a:t>
            </a:r>
            <a:r>
              <a:rPr lang="en-IN" dirty="0" err="1">
                <a:latin typeface="Times New Roman" panose="02020603050405020304" pitchFamily="18" charset="0"/>
                <a:cs typeface="Times New Roman" panose="02020603050405020304" pitchFamily="18" charset="0"/>
              </a:rPr>
              <a:t>Jupyter</a:t>
            </a:r>
            <a:r>
              <a:rPr lang="en-IN" dirty="0">
                <a:latin typeface="Times New Roman" panose="02020603050405020304" pitchFamily="18" charset="0"/>
                <a:cs typeface="Times New Roman" panose="02020603050405020304" pitchFamily="18" charset="0"/>
              </a:rPr>
              <a:t> Notebook &amp; VS Code</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Hardware Requirements:</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Processor: Intel® Core™ i7 processor 14650HX (30M Cache, up to 5.20 GHz)</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Hard disk: minimum 80 GB</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RAM: minimum 4 GB</a:t>
            </a:r>
          </a:p>
        </p:txBody>
      </p:sp>
    </p:spTree>
    <p:extLst>
      <p:ext uri="{BB962C8B-B14F-4D97-AF65-F5344CB8AC3E}">
        <p14:creationId xmlns:p14="http://schemas.microsoft.com/office/powerpoint/2010/main" val="2070265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b="1" dirty="0">
                <a:solidFill>
                  <a:srgbClr val="7030A0"/>
                </a:solidFill>
                <a:latin typeface="Times New Roman" panose="02020603050405020304" pitchFamily="18" charset="0"/>
                <a:cs typeface="Times New Roman" panose="02020603050405020304" pitchFamily="18" charset="0"/>
              </a:rPr>
              <a:t>Architecture / </a:t>
            </a:r>
            <a:r>
              <a:rPr lang="en-US" sz="3600" b="1" dirty="0">
                <a:solidFill>
                  <a:srgbClr val="7030A0"/>
                </a:solidFill>
                <a:latin typeface="Times New Roman" panose="02020603050405020304" pitchFamily="18" charset="0"/>
                <a:cs typeface="Times New Roman" panose="02020603050405020304" pitchFamily="18" charset="0"/>
              </a:rPr>
              <a:t>Methodology</a:t>
            </a:r>
            <a:r>
              <a:rPr lang="en-US" b="1" dirty="0">
                <a:solidFill>
                  <a:srgbClr val="7030A0"/>
                </a:solidFill>
                <a:latin typeface="Times New Roman" panose="02020603050405020304" pitchFamily="18" charset="0"/>
                <a:cs typeface="Times New Roman" panose="02020603050405020304" pitchFamily="18" charset="0"/>
              </a:rPr>
              <a:t> used</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C207A7E-3D82-3EF5-FA41-02841985E0D6}"/>
              </a:ext>
            </a:extLst>
          </p:cNvPr>
          <p:cNvSpPr>
            <a:spLocks noGrp="1"/>
          </p:cNvSpPr>
          <p:nvPr>
            <p:ph type="sldNum" sz="quarter" idx="12"/>
          </p:nvPr>
        </p:nvSpPr>
        <p:spPr/>
        <p:txBody>
          <a:bodyPr/>
          <a:lstStyle/>
          <a:p>
            <a:fld id="{9D3FF152-60F5-4862-82F9-1190556AA56F}" type="slidenum">
              <a:rPr lang="en-IN" sz="1400" b="1" smtClean="0">
                <a:solidFill>
                  <a:schemeClr val="tx1"/>
                </a:solidFill>
              </a:rPr>
              <a:t>12</a:t>
            </a:fld>
            <a:endParaRPr lang="en-IN" b="1" dirty="0">
              <a:solidFill>
                <a:schemeClr val="tx1"/>
              </a:solidFill>
            </a:endParaRPr>
          </a:p>
        </p:txBody>
      </p:sp>
      <p:sp>
        <p:nvSpPr>
          <p:cNvPr id="5" name="Footer Placeholder 4">
            <a:extLst>
              <a:ext uri="{FF2B5EF4-FFF2-40B4-BE49-F238E27FC236}">
                <a16:creationId xmlns:a16="http://schemas.microsoft.com/office/drawing/2014/main" id="{32B6A7EF-50D7-1BEB-23D3-C8D571DB476B}"/>
              </a:ext>
            </a:extLst>
          </p:cNvPr>
          <p:cNvSpPr>
            <a:spLocks noGrp="1"/>
          </p:cNvSpPr>
          <p:nvPr>
            <p:ph type="ftr" sz="quarter" idx="11"/>
          </p:nvPr>
        </p:nvSpPr>
        <p:spPr/>
        <p:txBody>
          <a:bodyPr/>
          <a:lstStyle/>
          <a:p>
            <a:r>
              <a:rPr lang="en-IN" b="1"/>
              <a:t>Leveraging Deep Learning for Intelligent Driver Behavior Analysis for Road Safety</a:t>
            </a:r>
          </a:p>
        </p:txBody>
      </p:sp>
      <p:pic>
        <p:nvPicPr>
          <p:cNvPr id="6" name="Picture 5">
            <a:extLst>
              <a:ext uri="{FF2B5EF4-FFF2-40B4-BE49-F238E27FC236}">
                <a16:creationId xmlns:a16="http://schemas.microsoft.com/office/drawing/2014/main" id="{ECD90166-3E82-5DD3-BACE-C2565334F5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126" y="1555954"/>
            <a:ext cx="8147747" cy="3746091"/>
          </a:xfrm>
          <a:prstGeom prst="rect">
            <a:avLst/>
          </a:prstGeom>
        </p:spPr>
      </p:pic>
    </p:spTree>
    <p:extLst>
      <p:ext uri="{BB962C8B-B14F-4D97-AF65-F5344CB8AC3E}">
        <p14:creationId xmlns:p14="http://schemas.microsoft.com/office/powerpoint/2010/main" val="3264071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49" y="419450"/>
            <a:ext cx="7617729" cy="1275201"/>
          </a:xfrm>
        </p:spPr>
        <p:txBody>
          <a:bodyPr>
            <a:noAutofit/>
          </a:bodyPr>
          <a:lstStyle/>
          <a:p>
            <a:pPr algn="ctr"/>
            <a:r>
              <a:rPr lang="en-US"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System Design - Flow Chart/DFD/ER </a:t>
            </a:r>
            <a:endParaRPr lang="en-IN" sz="6000" b="1" dirty="0">
              <a:solidFill>
                <a:srgbClr val="7030A0"/>
              </a:solidFill>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49F084E4-6470-6E54-01D5-51470D9D3D05}"/>
              </a:ext>
            </a:extLst>
          </p:cNvPr>
          <p:cNvSpPr>
            <a:spLocks noGrp="1"/>
          </p:cNvSpPr>
          <p:nvPr>
            <p:ph type="sldNum" sz="quarter" idx="12"/>
          </p:nvPr>
        </p:nvSpPr>
        <p:spPr/>
        <p:txBody>
          <a:bodyPr/>
          <a:lstStyle/>
          <a:p>
            <a:fld id="{9D3FF152-60F5-4862-82F9-1190556AA56F}" type="slidenum">
              <a:rPr lang="en-IN" sz="1400" b="1" smtClean="0">
                <a:solidFill>
                  <a:schemeClr val="tx1"/>
                </a:solidFill>
              </a:rPr>
              <a:t>13</a:t>
            </a:fld>
            <a:endParaRPr lang="en-IN" b="1" dirty="0">
              <a:solidFill>
                <a:schemeClr val="tx1"/>
              </a:solidFill>
            </a:endParaRPr>
          </a:p>
        </p:txBody>
      </p:sp>
      <p:sp>
        <p:nvSpPr>
          <p:cNvPr id="3" name="Footer Placeholder 2">
            <a:extLst>
              <a:ext uri="{FF2B5EF4-FFF2-40B4-BE49-F238E27FC236}">
                <a16:creationId xmlns:a16="http://schemas.microsoft.com/office/drawing/2014/main" id="{34C646A9-0D81-7699-9DA6-C34614EB0F05}"/>
              </a:ext>
            </a:extLst>
          </p:cNvPr>
          <p:cNvSpPr>
            <a:spLocks noGrp="1"/>
          </p:cNvSpPr>
          <p:nvPr>
            <p:ph type="ftr" sz="quarter" idx="11"/>
          </p:nvPr>
        </p:nvSpPr>
        <p:spPr/>
        <p:txBody>
          <a:bodyPr/>
          <a:lstStyle/>
          <a:p>
            <a:r>
              <a:rPr lang="en-IN" b="1"/>
              <a:t>Leveraging Deep Learning for Intelligent Driver Behavior Analysis for Road Safety</a:t>
            </a:r>
          </a:p>
        </p:txBody>
      </p:sp>
      <p:pic>
        <p:nvPicPr>
          <p:cNvPr id="7" name="Picture 6">
            <a:extLst>
              <a:ext uri="{FF2B5EF4-FFF2-40B4-BE49-F238E27FC236}">
                <a16:creationId xmlns:a16="http://schemas.microsoft.com/office/drawing/2014/main" id="{B0BFCFA8-90A9-4B2F-8AF3-838EE80B1DDF}"/>
              </a:ext>
            </a:extLst>
          </p:cNvPr>
          <p:cNvPicPr>
            <a:picLocks noChangeAspect="1"/>
          </p:cNvPicPr>
          <p:nvPr/>
        </p:nvPicPr>
        <p:blipFill>
          <a:blip r:embed="rId2"/>
          <a:stretch>
            <a:fillRect/>
          </a:stretch>
        </p:blipFill>
        <p:spPr>
          <a:xfrm>
            <a:off x="3667534" y="1971451"/>
            <a:ext cx="1521267" cy="3980798"/>
          </a:xfrm>
          <a:prstGeom prst="rect">
            <a:avLst/>
          </a:prstGeom>
        </p:spPr>
      </p:pic>
      <p:sp>
        <p:nvSpPr>
          <p:cNvPr id="9" name="Rectangle 8">
            <a:extLst>
              <a:ext uri="{FF2B5EF4-FFF2-40B4-BE49-F238E27FC236}">
                <a16:creationId xmlns:a16="http://schemas.microsoft.com/office/drawing/2014/main" id="{2B2864EE-C254-4B47-B3AB-8E4D78C76BF3}"/>
              </a:ext>
            </a:extLst>
          </p:cNvPr>
          <p:cNvSpPr/>
          <p:nvPr/>
        </p:nvSpPr>
        <p:spPr>
          <a:xfrm>
            <a:off x="3360121" y="5805182"/>
            <a:ext cx="2171093" cy="423867"/>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6653309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0"/>
            <a:ext cx="8582462" cy="1083969"/>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System Design - Flow Chart/DFD/ER </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49F084E4-6470-6E54-01D5-51470D9D3D05}"/>
              </a:ext>
            </a:extLst>
          </p:cNvPr>
          <p:cNvSpPr>
            <a:spLocks noGrp="1"/>
          </p:cNvSpPr>
          <p:nvPr>
            <p:ph type="sldNum" sz="quarter" idx="12"/>
          </p:nvPr>
        </p:nvSpPr>
        <p:spPr/>
        <p:txBody>
          <a:bodyPr/>
          <a:lstStyle/>
          <a:p>
            <a:fld id="{9D3FF152-60F5-4862-82F9-1190556AA56F}" type="slidenum">
              <a:rPr lang="en-IN" smtClean="0"/>
              <a:t>14</a:t>
            </a:fld>
            <a:endParaRPr lang="en-IN"/>
          </a:p>
        </p:txBody>
      </p:sp>
      <p:sp>
        <p:nvSpPr>
          <p:cNvPr id="3" name="Footer Placeholder 2">
            <a:extLst>
              <a:ext uri="{FF2B5EF4-FFF2-40B4-BE49-F238E27FC236}">
                <a16:creationId xmlns:a16="http://schemas.microsoft.com/office/drawing/2014/main" id="{AE14B8CA-2C58-27BC-169F-30833F34682F}"/>
              </a:ext>
            </a:extLst>
          </p:cNvPr>
          <p:cNvSpPr>
            <a:spLocks noGrp="1"/>
          </p:cNvSpPr>
          <p:nvPr>
            <p:ph type="ftr" sz="quarter" idx="11"/>
          </p:nvPr>
        </p:nvSpPr>
        <p:spPr/>
        <p:txBody>
          <a:bodyPr/>
          <a:lstStyle/>
          <a:p>
            <a:r>
              <a:rPr lang="en-IN" b="1"/>
              <a:t>Leveraging Deep Learning for Intelligent Driver Behavior Analysis for Road Safety</a:t>
            </a:r>
          </a:p>
        </p:txBody>
      </p:sp>
      <p:pic>
        <p:nvPicPr>
          <p:cNvPr id="7" name="Picture 6">
            <a:extLst>
              <a:ext uri="{FF2B5EF4-FFF2-40B4-BE49-F238E27FC236}">
                <a16:creationId xmlns:a16="http://schemas.microsoft.com/office/drawing/2014/main" id="{2F59CAD3-9FBF-42D8-8B71-9507C206EB81}"/>
              </a:ext>
            </a:extLst>
          </p:cNvPr>
          <p:cNvPicPr>
            <a:picLocks noChangeAspect="1"/>
          </p:cNvPicPr>
          <p:nvPr/>
        </p:nvPicPr>
        <p:blipFill>
          <a:blip r:embed="rId2"/>
          <a:stretch>
            <a:fillRect/>
          </a:stretch>
        </p:blipFill>
        <p:spPr>
          <a:xfrm>
            <a:off x="775123" y="1374749"/>
            <a:ext cx="7924260" cy="4856812"/>
          </a:xfrm>
          <a:prstGeom prst="rect">
            <a:avLst/>
          </a:prstGeom>
        </p:spPr>
      </p:pic>
    </p:spTree>
    <p:extLst>
      <p:ext uri="{BB962C8B-B14F-4D97-AF65-F5344CB8AC3E}">
        <p14:creationId xmlns:p14="http://schemas.microsoft.com/office/powerpoint/2010/main" val="3627095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8EAA6-7323-9478-B954-A04160F5C4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F02402-E98A-24E5-C014-9BE7A0BAA857}"/>
              </a:ext>
            </a:extLst>
          </p:cNvPr>
          <p:cNvSpPr>
            <a:spLocks noGrp="1"/>
          </p:cNvSpPr>
          <p:nvPr>
            <p:ph type="title"/>
          </p:nvPr>
        </p:nvSpPr>
        <p:spPr>
          <a:xfrm>
            <a:off x="628649" y="165991"/>
            <a:ext cx="7360319" cy="736377"/>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System Design - Flow Chart/DFD/ER </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D47092FB-CF37-3B8E-00EB-3048786413CF}"/>
              </a:ext>
            </a:extLst>
          </p:cNvPr>
          <p:cNvSpPr>
            <a:spLocks noGrp="1"/>
          </p:cNvSpPr>
          <p:nvPr>
            <p:ph type="sldNum" sz="quarter" idx="12"/>
          </p:nvPr>
        </p:nvSpPr>
        <p:spPr/>
        <p:txBody>
          <a:bodyPr/>
          <a:lstStyle/>
          <a:p>
            <a:fld id="{9D3FF152-60F5-4862-82F9-1190556AA56F}" type="slidenum">
              <a:rPr lang="en-IN" smtClean="0"/>
              <a:t>15</a:t>
            </a:fld>
            <a:endParaRPr lang="en-IN"/>
          </a:p>
        </p:txBody>
      </p:sp>
      <p:sp>
        <p:nvSpPr>
          <p:cNvPr id="3" name="Footer Placeholder 2">
            <a:extLst>
              <a:ext uri="{FF2B5EF4-FFF2-40B4-BE49-F238E27FC236}">
                <a16:creationId xmlns:a16="http://schemas.microsoft.com/office/drawing/2014/main" id="{20B5977A-999A-377F-6F96-9D9CC78B6DB3}"/>
              </a:ext>
            </a:extLst>
          </p:cNvPr>
          <p:cNvSpPr>
            <a:spLocks noGrp="1"/>
          </p:cNvSpPr>
          <p:nvPr>
            <p:ph type="ftr" sz="quarter" idx="11"/>
          </p:nvPr>
        </p:nvSpPr>
        <p:spPr/>
        <p:txBody>
          <a:bodyPr/>
          <a:lstStyle/>
          <a:p>
            <a:r>
              <a:rPr lang="en-IN" b="1"/>
              <a:t>Leveraging Deep Learning for Intelligent Driver Behavior Analysis for Road Safety</a:t>
            </a:r>
          </a:p>
        </p:txBody>
      </p:sp>
      <p:pic>
        <p:nvPicPr>
          <p:cNvPr id="7" name="Picture 6">
            <a:extLst>
              <a:ext uri="{FF2B5EF4-FFF2-40B4-BE49-F238E27FC236}">
                <a16:creationId xmlns:a16="http://schemas.microsoft.com/office/drawing/2014/main" id="{C89B3602-BF49-4F91-9C7E-16216D312E68}"/>
              </a:ext>
            </a:extLst>
          </p:cNvPr>
          <p:cNvPicPr>
            <a:picLocks noChangeAspect="1"/>
          </p:cNvPicPr>
          <p:nvPr/>
        </p:nvPicPr>
        <p:blipFill>
          <a:blip r:embed="rId2"/>
          <a:stretch>
            <a:fillRect/>
          </a:stretch>
        </p:blipFill>
        <p:spPr>
          <a:xfrm>
            <a:off x="3028950" y="1220450"/>
            <a:ext cx="2584198" cy="5029874"/>
          </a:xfrm>
          <a:prstGeom prst="rect">
            <a:avLst/>
          </a:prstGeom>
        </p:spPr>
      </p:pic>
      <p:sp>
        <p:nvSpPr>
          <p:cNvPr id="9" name="Rectangle 8">
            <a:extLst>
              <a:ext uri="{FF2B5EF4-FFF2-40B4-BE49-F238E27FC236}">
                <a16:creationId xmlns:a16="http://schemas.microsoft.com/office/drawing/2014/main" id="{174E1BF4-387C-464B-A9A0-8F0B37F076AB}"/>
              </a:ext>
            </a:extLst>
          </p:cNvPr>
          <p:cNvSpPr/>
          <p:nvPr/>
        </p:nvSpPr>
        <p:spPr>
          <a:xfrm>
            <a:off x="2793009" y="5720066"/>
            <a:ext cx="3322041" cy="53025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73122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Module Description</a:t>
            </a:r>
            <a:endParaRPr lang="en-IN" sz="9600" b="1" dirty="0">
              <a:solidFill>
                <a:srgbClr val="7030A0"/>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8BBB847C-58FB-58C8-32C9-9A8BAF62EA4A}"/>
              </a:ext>
            </a:extLst>
          </p:cNvPr>
          <p:cNvSpPr>
            <a:spLocks noGrp="1"/>
          </p:cNvSpPr>
          <p:nvPr>
            <p:ph type="sldNum" sz="quarter" idx="12"/>
          </p:nvPr>
        </p:nvSpPr>
        <p:spPr/>
        <p:txBody>
          <a:bodyPr/>
          <a:lstStyle/>
          <a:p>
            <a:fld id="{9D3FF152-60F5-4862-82F9-1190556AA56F}" type="slidenum">
              <a:rPr lang="en-IN" smtClean="0"/>
              <a:t>16</a:t>
            </a:fld>
            <a:endParaRPr lang="en-IN"/>
          </a:p>
        </p:txBody>
      </p:sp>
      <p:sp>
        <p:nvSpPr>
          <p:cNvPr id="6" name="Footer Placeholder 5">
            <a:extLst>
              <a:ext uri="{FF2B5EF4-FFF2-40B4-BE49-F238E27FC236}">
                <a16:creationId xmlns:a16="http://schemas.microsoft.com/office/drawing/2014/main" id="{4CC9CFD2-EB2F-6895-48F0-E578AAFB86F9}"/>
              </a:ext>
            </a:extLst>
          </p:cNvPr>
          <p:cNvSpPr>
            <a:spLocks noGrp="1"/>
          </p:cNvSpPr>
          <p:nvPr>
            <p:ph type="ftr" sz="quarter" idx="11"/>
          </p:nvPr>
        </p:nvSpPr>
        <p:spPr/>
        <p:txBody>
          <a:bodyPr/>
          <a:lstStyle/>
          <a:p>
            <a:r>
              <a:rPr lang="en-IN" b="1"/>
              <a:t>Leveraging Deep Learning for Intelligent Driver Behavior Analysis for Road Safety</a:t>
            </a:r>
          </a:p>
        </p:txBody>
      </p:sp>
      <p:sp>
        <p:nvSpPr>
          <p:cNvPr id="7" name="TextBox 6">
            <a:extLst>
              <a:ext uri="{FF2B5EF4-FFF2-40B4-BE49-F238E27FC236}">
                <a16:creationId xmlns:a16="http://schemas.microsoft.com/office/drawing/2014/main" id="{F3CCB58A-6B1E-4AA7-A094-7B6222B65A8B}"/>
              </a:ext>
            </a:extLst>
          </p:cNvPr>
          <p:cNvSpPr txBox="1"/>
          <p:nvPr/>
        </p:nvSpPr>
        <p:spPr>
          <a:xfrm>
            <a:off x="418641" y="1178805"/>
            <a:ext cx="8207566" cy="3416320"/>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1. Data Acquisition Module</a:t>
            </a:r>
          </a:p>
          <a:p>
            <a:pPr algn="just"/>
            <a:r>
              <a:rPr lang="en-US" sz="2400" dirty="0">
                <a:latin typeface="Times New Roman" panose="02020603050405020304" pitchFamily="18" charset="0"/>
                <a:cs typeface="Times New Roman" panose="02020603050405020304" pitchFamily="18" charset="0"/>
              </a:rPr>
              <a:t>📌 Purpose: Collects real-time data from various sensors and cameras.</a:t>
            </a:r>
          </a:p>
          <a:p>
            <a:pPr algn="just"/>
            <a:r>
              <a:rPr lang="en-US" sz="2400" dirty="0">
                <a:latin typeface="Times New Roman" panose="02020603050405020304" pitchFamily="18" charset="0"/>
                <a:cs typeface="Times New Roman" panose="02020603050405020304" pitchFamily="18" charset="0"/>
              </a:rPr>
              <a:t>🔹 Sub-Modules: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Sensor Data Collection: Captures speed, acceleration, braking, and steering angle.</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Camera Data Capture: Uses a dashcam or webcam to record driver facial expressions, hand movements, and eye tracking.</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External Factors: Weather conditions, road type (optional).</a:t>
            </a:r>
          </a:p>
        </p:txBody>
      </p:sp>
    </p:spTree>
    <p:extLst>
      <p:ext uri="{BB962C8B-B14F-4D97-AF65-F5344CB8AC3E}">
        <p14:creationId xmlns:p14="http://schemas.microsoft.com/office/powerpoint/2010/main" val="25475205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7C0E9-8F27-43C7-56D5-AEDF09F40E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EB707D-7B1E-D524-EFD2-B8B6525327CF}"/>
              </a:ext>
            </a:extLst>
          </p:cNvPr>
          <p:cNvSpPr>
            <a:spLocks noGrp="1"/>
          </p:cNvSpPr>
          <p:nvPr>
            <p:ph type="title"/>
          </p:nvPr>
        </p:nvSpPr>
        <p:spPr>
          <a:xfrm>
            <a:off x="628650" y="165991"/>
            <a:ext cx="7886700" cy="530258"/>
          </a:xfrm>
        </p:spPr>
        <p:txBody>
          <a:bodyPr>
            <a:noAutofit/>
          </a:bodyPr>
          <a:lstStyle/>
          <a:p>
            <a:pPr algn="ctr"/>
            <a:r>
              <a:rPr lang="en-US"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Module Description</a:t>
            </a:r>
            <a:endParaRPr lang="en-IN" sz="9600" b="1" dirty="0">
              <a:solidFill>
                <a:srgbClr val="7030A0"/>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3236325A-CB24-D4DF-B241-7B1034510424}"/>
              </a:ext>
            </a:extLst>
          </p:cNvPr>
          <p:cNvSpPr>
            <a:spLocks noGrp="1"/>
          </p:cNvSpPr>
          <p:nvPr>
            <p:ph type="sldNum" sz="quarter" idx="12"/>
          </p:nvPr>
        </p:nvSpPr>
        <p:spPr/>
        <p:txBody>
          <a:bodyPr/>
          <a:lstStyle/>
          <a:p>
            <a:fld id="{9D3FF152-60F5-4862-82F9-1190556AA56F}" type="slidenum">
              <a:rPr lang="en-IN" smtClean="0"/>
              <a:t>17</a:t>
            </a:fld>
            <a:endParaRPr lang="en-IN"/>
          </a:p>
        </p:txBody>
      </p:sp>
      <p:sp>
        <p:nvSpPr>
          <p:cNvPr id="6" name="Footer Placeholder 5">
            <a:extLst>
              <a:ext uri="{FF2B5EF4-FFF2-40B4-BE49-F238E27FC236}">
                <a16:creationId xmlns:a16="http://schemas.microsoft.com/office/drawing/2014/main" id="{3E4A5C17-8BE5-DAA7-5A3F-CAF71BEAA45A}"/>
              </a:ext>
            </a:extLst>
          </p:cNvPr>
          <p:cNvSpPr>
            <a:spLocks noGrp="1"/>
          </p:cNvSpPr>
          <p:nvPr>
            <p:ph type="ftr" sz="quarter" idx="11"/>
          </p:nvPr>
        </p:nvSpPr>
        <p:spPr/>
        <p:txBody>
          <a:bodyPr/>
          <a:lstStyle/>
          <a:p>
            <a:r>
              <a:rPr lang="en-IN" b="1"/>
              <a:t>Leveraging Deep Learning for Intelligent Driver Behavior Analysis for Road Safety</a:t>
            </a:r>
          </a:p>
        </p:txBody>
      </p:sp>
      <p:sp>
        <p:nvSpPr>
          <p:cNvPr id="17" name="TextBox 16">
            <a:extLst>
              <a:ext uri="{FF2B5EF4-FFF2-40B4-BE49-F238E27FC236}">
                <a16:creationId xmlns:a16="http://schemas.microsoft.com/office/drawing/2014/main" id="{AFC24349-DC07-4CB7-B29F-91CDF8A2D2B8}"/>
              </a:ext>
            </a:extLst>
          </p:cNvPr>
          <p:cNvSpPr txBox="1"/>
          <p:nvPr/>
        </p:nvSpPr>
        <p:spPr>
          <a:xfrm>
            <a:off x="352540" y="1071134"/>
            <a:ext cx="7886700" cy="4757264"/>
          </a:xfrm>
          <a:prstGeom prst="rect">
            <a:avLst/>
          </a:prstGeom>
          <a:noFill/>
        </p:spPr>
        <p:txBody>
          <a:bodyPr wrap="square" rtlCol="0">
            <a:spAutoFit/>
          </a:bodyPr>
          <a:lstStyle/>
          <a:p>
            <a:pPr>
              <a:lnSpc>
                <a:spcPct val="107000"/>
              </a:lnSpc>
              <a:spcAft>
                <a:spcPts val="800"/>
              </a:spcAf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Data </a:t>
            </a:r>
            <a:r>
              <a:rPr lang="en-IN" dirty="0" err="1">
                <a:effectLst/>
                <a:latin typeface="Times New Roman" panose="02020603050405020304" pitchFamily="18" charset="0"/>
                <a:ea typeface="Times New Roman" panose="02020603050405020304" pitchFamily="18" charset="0"/>
                <a:cs typeface="Times New Roman" panose="02020603050405020304" pitchFamily="18" charset="0"/>
              </a:rPr>
              <a:t>Preprocessing</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Module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Purpose: Cleans and prepares collected data for model training and inference.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Sub-Modules: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Image </a:t>
            </a:r>
            <a:r>
              <a:rPr lang="en-IN" dirty="0" err="1">
                <a:effectLst/>
                <a:latin typeface="Times New Roman" panose="02020603050405020304" pitchFamily="18" charset="0"/>
                <a:ea typeface="Times New Roman" panose="02020603050405020304" pitchFamily="18" charset="0"/>
                <a:cs typeface="Times New Roman" panose="02020603050405020304" pitchFamily="18" charset="0"/>
              </a:rPr>
              <a:t>Preprocessing</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Convert to grayscale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Resize to fixed dimensions (e.g., 224x224 for CNN models)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Technologies Used:</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OpenCV for image manipulation</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Scikit-learn &amp; NumPy for sensor data normalization</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Output:</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Cleaned sensor &amp; image data ready for ML models.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IN" dirty="0">
                <a:effectLst/>
                <a:latin typeface="Times New Roman" panose="02020603050405020304" pitchFamily="18"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3834228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BD906-AB7D-B467-158F-0AFDF6881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93181A-9B34-9F9B-46CF-B06B3A325964}"/>
              </a:ext>
            </a:extLst>
          </p:cNvPr>
          <p:cNvSpPr>
            <a:spLocks noGrp="1"/>
          </p:cNvSpPr>
          <p:nvPr>
            <p:ph type="title"/>
          </p:nvPr>
        </p:nvSpPr>
        <p:spPr>
          <a:xfrm>
            <a:off x="628650" y="165991"/>
            <a:ext cx="7886700" cy="530258"/>
          </a:xfrm>
        </p:spPr>
        <p:txBody>
          <a:bodyPr>
            <a:noAutofit/>
          </a:bodyPr>
          <a:lstStyle/>
          <a:p>
            <a:pPr algn="ctr"/>
            <a:r>
              <a:rPr lang="en-US"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Module Description</a:t>
            </a:r>
            <a:endParaRPr lang="en-IN" sz="9600" b="1" dirty="0">
              <a:solidFill>
                <a:srgbClr val="7030A0"/>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28371C4B-7C44-C037-0D8D-36F40D552362}"/>
              </a:ext>
            </a:extLst>
          </p:cNvPr>
          <p:cNvSpPr>
            <a:spLocks noGrp="1"/>
          </p:cNvSpPr>
          <p:nvPr>
            <p:ph type="sldNum" sz="quarter" idx="12"/>
          </p:nvPr>
        </p:nvSpPr>
        <p:spPr/>
        <p:txBody>
          <a:bodyPr/>
          <a:lstStyle/>
          <a:p>
            <a:fld id="{9D3FF152-60F5-4862-82F9-1190556AA56F}" type="slidenum">
              <a:rPr lang="en-IN" smtClean="0"/>
              <a:t>18</a:t>
            </a:fld>
            <a:endParaRPr lang="en-IN"/>
          </a:p>
        </p:txBody>
      </p:sp>
      <p:sp>
        <p:nvSpPr>
          <p:cNvPr id="6" name="Footer Placeholder 5">
            <a:extLst>
              <a:ext uri="{FF2B5EF4-FFF2-40B4-BE49-F238E27FC236}">
                <a16:creationId xmlns:a16="http://schemas.microsoft.com/office/drawing/2014/main" id="{84CD3E3F-B26B-76C4-0DC0-1D33710550D9}"/>
              </a:ext>
            </a:extLst>
          </p:cNvPr>
          <p:cNvSpPr>
            <a:spLocks noGrp="1"/>
          </p:cNvSpPr>
          <p:nvPr>
            <p:ph type="ftr" sz="quarter" idx="11"/>
          </p:nvPr>
        </p:nvSpPr>
        <p:spPr/>
        <p:txBody>
          <a:bodyPr/>
          <a:lstStyle/>
          <a:p>
            <a:r>
              <a:rPr lang="en-IN" b="1"/>
              <a:t>Leveraging Deep Learning for Intelligent Driver Behavior Analysis for Road Safety</a:t>
            </a:r>
          </a:p>
        </p:txBody>
      </p:sp>
      <p:sp>
        <p:nvSpPr>
          <p:cNvPr id="3" name="TextBox 2">
            <a:extLst>
              <a:ext uri="{FF2B5EF4-FFF2-40B4-BE49-F238E27FC236}">
                <a16:creationId xmlns:a16="http://schemas.microsoft.com/office/drawing/2014/main" id="{1D87B633-5231-4A11-A8DB-06BE99692B90}"/>
              </a:ext>
            </a:extLst>
          </p:cNvPr>
          <p:cNvSpPr txBox="1"/>
          <p:nvPr/>
        </p:nvSpPr>
        <p:spPr>
          <a:xfrm>
            <a:off x="396607" y="1200839"/>
            <a:ext cx="7998246" cy="3970318"/>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Report Generation &amp; Analytics Module</a:t>
            </a:r>
          </a:p>
          <a:p>
            <a:r>
              <a:rPr lang="en-IN" dirty="0">
                <a:latin typeface="Times New Roman" panose="02020603050405020304" pitchFamily="18" charset="0"/>
                <a:cs typeface="Times New Roman" panose="02020603050405020304" pitchFamily="18" charset="0"/>
              </a:rPr>
              <a:t>📌 Purpose: Stores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history &amp; generates reports for driver analysis.</a:t>
            </a:r>
          </a:p>
          <a:p>
            <a:r>
              <a:rPr lang="en-IN" dirty="0">
                <a:latin typeface="Times New Roman" panose="02020603050405020304" pitchFamily="18" charset="0"/>
                <a:cs typeface="Times New Roman" panose="02020603050405020304" pitchFamily="18" charset="0"/>
              </a:rPr>
              <a:t>🔹 Sub-Modules: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Driver Performance Dashboard</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Shows past incidents and risk analysis.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Admin Panel (for fleet monitoring)</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Monitors driver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trends over time.</a:t>
            </a:r>
          </a:p>
          <a:p>
            <a:r>
              <a:rPr lang="en-IN" dirty="0">
                <a:latin typeface="Times New Roman" panose="02020603050405020304" pitchFamily="18" charset="0"/>
                <a:cs typeface="Times New Roman" panose="02020603050405020304" pitchFamily="18" charset="0"/>
              </a:rPr>
              <a:t>🔹 Technologies Used:</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Flask/Django for web dashboard</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Matplotlib/Seaborn for visualization</a:t>
            </a:r>
          </a:p>
          <a:p>
            <a:r>
              <a:rPr lang="en-IN" dirty="0">
                <a:latin typeface="Times New Roman" panose="02020603050405020304" pitchFamily="18" charset="0"/>
                <a:cs typeface="Times New Roman" panose="02020603050405020304" pitchFamily="18" charset="0"/>
              </a:rPr>
              <a:t>🔹 Output Example:</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Weekly Report: "Driver had 3 distractions, 2 drowsiness events, and 1 aggressive turn."</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08589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325D4-B378-9B10-96C3-EE994AA808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E55DB9-6059-1B92-52B7-C028CC245902}"/>
              </a:ext>
            </a:extLst>
          </p:cNvPr>
          <p:cNvSpPr>
            <a:spLocks noGrp="1"/>
          </p:cNvSpPr>
          <p:nvPr>
            <p:ph type="title"/>
          </p:nvPr>
        </p:nvSpPr>
        <p:spPr>
          <a:xfrm>
            <a:off x="628650" y="165991"/>
            <a:ext cx="7886700" cy="530258"/>
          </a:xfrm>
        </p:spPr>
        <p:txBody>
          <a:bodyPr>
            <a:noAutofit/>
          </a:bodyPr>
          <a:lstStyle/>
          <a:p>
            <a:pPr algn="ctr"/>
            <a:r>
              <a:rPr lang="en-US"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Module Description</a:t>
            </a:r>
            <a:endParaRPr lang="en-IN" sz="9600" b="1" dirty="0">
              <a:solidFill>
                <a:srgbClr val="7030A0"/>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3E1942A8-AFEE-8785-303F-AD3DDBD9C735}"/>
              </a:ext>
            </a:extLst>
          </p:cNvPr>
          <p:cNvSpPr>
            <a:spLocks noGrp="1"/>
          </p:cNvSpPr>
          <p:nvPr>
            <p:ph type="sldNum" sz="quarter" idx="12"/>
          </p:nvPr>
        </p:nvSpPr>
        <p:spPr/>
        <p:txBody>
          <a:bodyPr/>
          <a:lstStyle/>
          <a:p>
            <a:fld id="{9D3FF152-60F5-4862-82F9-1190556AA56F}" type="slidenum">
              <a:rPr lang="en-IN" smtClean="0"/>
              <a:t>19</a:t>
            </a:fld>
            <a:endParaRPr lang="en-IN"/>
          </a:p>
        </p:txBody>
      </p:sp>
      <p:sp>
        <p:nvSpPr>
          <p:cNvPr id="6" name="Footer Placeholder 5">
            <a:extLst>
              <a:ext uri="{FF2B5EF4-FFF2-40B4-BE49-F238E27FC236}">
                <a16:creationId xmlns:a16="http://schemas.microsoft.com/office/drawing/2014/main" id="{09728822-741D-C932-AE1E-21187D3006CA}"/>
              </a:ext>
            </a:extLst>
          </p:cNvPr>
          <p:cNvSpPr>
            <a:spLocks noGrp="1"/>
          </p:cNvSpPr>
          <p:nvPr>
            <p:ph type="ftr" sz="quarter" idx="11"/>
          </p:nvPr>
        </p:nvSpPr>
        <p:spPr/>
        <p:txBody>
          <a:bodyPr/>
          <a:lstStyle/>
          <a:p>
            <a:r>
              <a:rPr lang="en-IN" b="1"/>
              <a:t>Leveraging Deep Learning for Intelligent Driver Behavior Analysis for Road Safety</a:t>
            </a:r>
          </a:p>
        </p:txBody>
      </p:sp>
      <p:sp>
        <p:nvSpPr>
          <p:cNvPr id="3" name="TextBox 2">
            <a:extLst>
              <a:ext uri="{FF2B5EF4-FFF2-40B4-BE49-F238E27FC236}">
                <a16:creationId xmlns:a16="http://schemas.microsoft.com/office/drawing/2014/main" id="{18AAD5D6-F871-4844-BD58-4DD89F695738}"/>
              </a:ext>
            </a:extLst>
          </p:cNvPr>
          <p:cNvSpPr txBox="1"/>
          <p:nvPr/>
        </p:nvSpPr>
        <p:spPr>
          <a:xfrm>
            <a:off x="517104" y="892366"/>
            <a:ext cx="8262651" cy="313932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 Alert System Module</a:t>
            </a:r>
          </a:p>
          <a:p>
            <a:r>
              <a:rPr lang="en-IN" dirty="0">
                <a:latin typeface="Times New Roman" panose="02020603050405020304" pitchFamily="18" charset="0"/>
                <a:cs typeface="Times New Roman" panose="02020603050405020304" pitchFamily="18" charset="0"/>
              </a:rPr>
              <a:t>📌 Purpose: Provides real-time alerts if unsafe behaviour is detected.</a:t>
            </a:r>
          </a:p>
          <a:p>
            <a:r>
              <a:rPr lang="en-IN" dirty="0">
                <a:latin typeface="Times New Roman" panose="02020603050405020304" pitchFamily="18" charset="0"/>
                <a:cs typeface="Times New Roman" panose="02020603050405020304" pitchFamily="18" charset="0"/>
              </a:rPr>
              <a:t>🔹 Sub-Modules: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Visual Alert (Dashboard display message)</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Audio Alert (Buzzer or voice warning: </a:t>
            </a:r>
            <a:r>
              <a:rPr lang="en-IN" i="1" dirty="0">
                <a:latin typeface="Times New Roman" panose="02020603050405020304" pitchFamily="18" charset="0"/>
                <a:cs typeface="Times New Roman" panose="02020603050405020304" pitchFamily="18" charset="0"/>
              </a:rPr>
              <a:t>"Wake up! You're drowsy."</a:t>
            </a:r>
            <a:r>
              <a:rPr lang="en-IN"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Haptic Alert (Vibration in the steering wheel)</a:t>
            </a:r>
          </a:p>
          <a:p>
            <a:r>
              <a:rPr lang="en-IN" dirty="0">
                <a:latin typeface="Times New Roman" panose="02020603050405020304" pitchFamily="18" charset="0"/>
                <a:cs typeface="Times New Roman" panose="02020603050405020304" pitchFamily="18" charset="0"/>
              </a:rPr>
              <a:t>🔹 Technologies Used:</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Text-to-Speech (TTS) for voice warnings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IoT devices (buzzers, haptic feedback motors) for physical alerts</a:t>
            </a:r>
          </a:p>
          <a:p>
            <a:r>
              <a:rPr lang="en-IN" dirty="0">
                <a:latin typeface="Times New Roman" panose="02020603050405020304" pitchFamily="18" charset="0"/>
                <a:cs typeface="Times New Roman" panose="02020603050405020304" pitchFamily="18" charset="0"/>
              </a:rPr>
              <a:t>🔹 Output Example:</a:t>
            </a:r>
          </a:p>
          <a:p>
            <a:pPr>
              <a:buFont typeface="Arial" panose="020B0604020202020204" pitchFamily="34" charset="0"/>
              <a:buChar char="•"/>
            </a:pPr>
            <a:r>
              <a:rPr lang="en-IN" i="1" dirty="0">
                <a:latin typeface="Times New Roman" panose="02020603050405020304" pitchFamily="18" charset="0"/>
                <a:cs typeface="Times New Roman" panose="02020603050405020304" pitchFamily="18" charset="0"/>
              </a:rPr>
              <a:t>"ALERT! Keep your eyes on the road."</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ECF1EC1-96DF-429B-9B9B-6DAFCE3E0BA5}"/>
              </a:ext>
            </a:extLst>
          </p:cNvPr>
          <p:cNvSpPr txBox="1"/>
          <p:nvPr/>
        </p:nvSpPr>
        <p:spPr>
          <a:xfrm>
            <a:off x="501611" y="4439797"/>
            <a:ext cx="8140777" cy="120032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Final Outcome</a:t>
            </a:r>
          </a:p>
          <a:p>
            <a:r>
              <a:rPr lang="en-US" dirty="0">
                <a:latin typeface="Times New Roman" panose="02020603050405020304" pitchFamily="18" charset="0"/>
                <a:cs typeface="Times New Roman" panose="02020603050405020304" pitchFamily="18" charset="0"/>
              </a:rPr>
              <a:t>✅ Detects unsafe driving behaviors (distracted, drowsy, aggressive driving).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Provides real-time alerts to prevent accidents.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Generates reports for driver performance tracking.</a:t>
            </a:r>
          </a:p>
        </p:txBody>
      </p:sp>
    </p:spTree>
    <p:extLst>
      <p:ext uri="{BB962C8B-B14F-4D97-AF65-F5344CB8AC3E}">
        <p14:creationId xmlns:p14="http://schemas.microsoft.com/office/powerpoint/2010/main" val="15418722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736934" y="471000"/>
            <a:ext cx="7886700" cy="530258"/>
          </a:xfrm>
        </p:spPr>
        <p:txBody>
          <a:bodyPr>
            <a:noAutofit/>
          </a:bodyPr>
          <a:lstStyle/>
          <a:p>
            <a:pPr algn="ct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Testing /Performance Evaluation / Results</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0C193825-7EA1-3874-5BC1-CAFD6A778198}"/>
              </a:ext>
            </a:extLst>
          </p:cNvPr>
          <p:cNvSpPr>
            <a:spLocks noGrp="1"/>
          </p:cNvSpPr>
          <p:nvPr>
            <p:ph type="sldNum" sz="quarter" idx="12"/>
          </p:nvPr>
        </p:nvSpPr>
        <p:spPr/>
        <p:txBody>
          <a:bodyPr/>
          <a:lstStyle/>
          <a:p>
            <a:fld id="{9D3FF152-60F5-4862-82F9-1190556AA56F}" type="slidenum">
              <a:rPr lang="en-IN" smtClean="0"/>
              <a:t>20</a:t>
            </a:fld>
            <a:endParaRPr lang="en-IN"/>
          </a:p>
        </p:txBody>
      </p:sp>
      <p:sp>
        <p:nvSpPr>
          <p:cNvPr id="6" name="Footer Placeholder 5">
            <a:extLst>
              <a:ext uri="{FF2B5EF4-FFF2-40B4-BE49-F238E27FC236}">
                <a16:creationId xmlns:a16="http://schemas.microsoft.com/office/drawing/2014/main" id="{74AEEE17-800D-5191-5AC4-5198C0D2F384}"/>
              </a:ext>
            </a:extLst>
          </p:cNvPr>
          <p:cNvSpPr>
            <a:spLocks noGrp="1"/>
          </p:cNvSpPr>
          <p:nvPr>
            <p:ph type="ftr" sz="quarter" idx="11"/>
          </p:nvPr>
        </p:nvSpPr>
        <p:spPr/>
        <p:txBody>
          <a:bodyPr/>
          <a:lstStyle/>
          <a:p>
            <a:r>
              <a:rPr lang="en-IN" b="1"/>
              <a:t>Leveraging Deep Learning for Intelligent Driver Behavior Analysis for Road Safety</a:t>
            </a:r>
          </a:p>
        </p:txBody>
      </p:sp>
      <p:pic>
        <p:nvPicPr>
          <p:cNvPr id="7" name="Picture 6">
            <a:extLst>
              <a:ext uri="{FF2B5EF4-FFF2-40B4-BE49-F238E27FC236}">
                <a16:creationId xmlns:a16="http://schemas.microsoft.com/office/drawing/2014/main" id="{B3DFF9B6-0E61-4561-9D8E-A26057D93A43}"/>
              </a:ext>
            </a:extLst>
          </p:cNvPr>
          <p:cNvPicPr>
            <a:picLocks noChangeAspect="1"/>
          </p:cNvPicPr>
          <p:nvPr/>
        </p:nvPicPr>
        <p:blipFill>
          <a:blip r:embed="rId2"/>
          <a:stretch>
            <a:fillRect/>
          </a:stretch>
        </p:blipFill>
        <p:spPr>
          <a:xfrm>
            <a:off x="0" y="1407695"/>
            <a:ext cx="9144000" cy="4598200"/>
          </a:xfrm>
          <a:prstGeom prst="rect">
            <a:avLst/>
          </a:prstGeom>
        </p:spPr>
      </p:pic>
    </p:spTree>
    <p:extLst>
      <p:ext uri="{BB962C8B-B14F-4D97-AF65-F5344CB8AC3E}">
        <p14:creationId xmlns:p14="http://schemas.microsoft.com/office/powerpoint/2010/main" val="40352323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D8796-FD80-4E95-3667-6601EA68DE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9F3983-E996-B752-1F1E-47547844DEA1}"/>
              </a:ext>
            </a:extLst>
          </p:cNvPr>
          <p:cNvSpPr>
            <a:spLocks noGrp="1"/>
          </p:cNvSpPr>
          <p:nvPr>
            <p:ph type="title"/>
          </p:nvPr>
        </p:nvSpPr>
        <p:spPr>
          <a:xfrm>
            <a:off x="628650" y="165990"/>
            <a:ext cx="7886700" cy="862427"/>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Testing /Performance Evaluation / Results</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80CAE307-7D82-DA50-A670-7291E8C56D53}"/>
              </a:ext>
            </a:extLst>
          </p:cNvPr>
          <p:cNvSpPr>
            <a:spLocks noGrp="1"/>
          </p:cNvSpPr>
          <p:nvPr>
            <p:ph type="sldNum" sz="quarter" idx="12"/>
          </p:nvPr>
        </p:nvSpPr>
        <p:spPr/>
        <p:txBody>
          <a:bodyPr/>
          <a:lstStyle/>
          <a:p>
            <a:fld id="{9D3FF152-60F5-4862-82F9-1190556AA56F}" type="slidenum">
              <a:rPr lang="en-IN" smtClean="0"/>
              <a:t>21</a:t>
            </a:fld>
            <a:endParaRPr lang="en-IN"/>
          </a:p>
        </p:txBody>
      </p:sp>
      <p:sp>
        <p:nvSpPr>
          <p:cNvPr id="6" name="Footer Placeholder 5">
            <a:extLst>
              <a:ext uri="{FF2B5EF4-FFF2-40B4-BE49-F238E27FC236}">
                <a16:creationId xmlns:a16="http://schemas.microsoft.com/office/drawing/2014/main" id="{E83F7681-9576-65DD-A748-FE8D29C3BA36}"/>
              </a:ext>
            </a:extLst>
          </p:cNvPr>
          <p:cNvSpPr>
            <a:spLocks noGrp="1"/>
          </p:cNvSpPr>
          <p:nvPr>
            <p:ph type="ftr" sz="quarter" idx="11"/>
          </p:nvPr>
        </p:nvSpPr>
        <p:spPr/>
        <p:txBody>
          <a:bodyPr/>
          <a:lstStyle/>
          <a:p>
            <a:r>
              <a:rPr lang="en-IN" b="1"/>
              <a:t>Leveraging Deep Learning for Intelligent Driver Behavior Analysis for Road Safety</a:t>
            </a:r>
          </a:p>
        </p:txBody>
      </p:sp>
      <p:pic>
        <p:nvPicPr>
          <p:cNvPr id="7" name="Picture 6">
            <a:extLst>
              <a:ext uri="{FF2B5EF4-FFF2-40B4-BE49-F238E27FC236}">
                <a16:creationId xmlns:a16="http://schemas.microsoft.com/office/drawing/2014/main" id="{B4F67F81-0CB6-4EE1-B5EB-020F965F250D}"/>
              </a:ext>
            </a:extLst>
          </p:cNvPr>
          <p:cNvPicPr>
            <a:picLocks noChangeAspect="1"/>
          </p:cNvPicPr>
          <p:nvPr/>
        </p:nvPicPr>
        <p:blipFill>
          <a:blip r:embed="rId2"/>
          <a:stretch>
            <a:fillRect/>
          </a:stretch>
        </p:blipFill>
        <p:spPr>
          <a:xfrm>
            <a:off x="0" y="1028418"/>
            <a:ext cx="8831179" cy="5215971"/>
          </a:xfrm>
          <a:prstGeom prst="rect">
            <a:avLst/>
          </a:prstGeom>
        </p:spPr>
      </p:pic>
    </p:spTree>
    <p:extLst>
      <p:ext uri="{BB962C8B-B14F-4D97-AF65-F5344CB8AC3E}">
        <p14:creationId xmlns:p14="http://schemas.microsoft.com/office/powerpoint/2010/main" val="1525473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Screen Shots</a:t>
            </a:r>
            <a:endParaRPr lang="en-IN" sz="19900" b="1" dirty="0">
              <a:solidFill>
                <a:srgbClr val="7030A0"/>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97198833-85FA-C44B-804E-1CCDC213431C}"/>
              </a:ext>
            </a:extLst>
          </p:cNvPr>
          <p:cNvSpPr>
            <a:spLocks noGrp="1"/>
          </p:cNvSpPr>
          <p:nvPr>
            <p:ph type="sldNum" sz="quarter" idx="12"/>
          </p:nvPr>
        </p:nvSpPr>
        <p:spPr/>
        <p:txBody>
          <a:bodyPr/>
          <a:lstStyle/>
          <a:p>
            <a:fld id="{9D3FF152-60F5-4862-82F9-1190556AA56F}" type="slidenum">
              <a:rPr lang="en-IN" smtClean="0"/>
              <a:t>22</a:t>
            </a:fld>
            <a:endParaRPr lang="en-IN"/>
          </a:p>
        </p:txBody>
      </p:sp>
      <p:sp>
        <p:nvSpPr>
          <p:cNvPr id="6" name="Footer Placeholder 5">
            <a:extLst>
              <a:ext uri="{FF2B5EF4-FFF2-40B4-BE49-F238E27FC236}">
                <a16:creationId xmlns:a16="http://schemas.microsoft.com/office/drawing/2014/main" id="{07A11D33-9EC1-367D-06D7-7E0A626A3DD6}"/>
              </a:ext>
            </a:extLst>
          </p:cNvPr>
          <p:cNvSpPr>
            <a:spLocks noGrp="1"/>
          </p:cNvSpPr>
          <p:nvPr>
            <p:ph type="ftr" sz="quarter" idx="11"/>
          </p:nvPr>
        </p:nvSpPr>
        <p:spPr/>
        <p:txBody>
          <a:bodyPr/>
          <a:lstStyle/>
          <a:p>
            <a:r>
              <a:rPr lang="en-IN" b="1"/>
              <a:t>Leveraging Deep Learning for Intelligent Driver Behavior Analysis for Road Safety</a:t>
            </a:r>
          </a:p>
        </p:txBody>
      </p:sp>
      <p:pic>
        <p:nvPicPr>
          <p:cNvPr id="12" name="Picture 11">
            <a:extLst>
              <a:ext uri="{FF2B5EF4-FFF2-40B4-BE49-F238E27FC236}">
                <a16:creationId xmlns:a16="http://schemas.microsoft.com/office/drawing/2014/main" id="{BCD37497-5ABC-4D7F-9AAE-C34A023360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338" y="841113"/>
            <a:ext cx="6819441" cy="5175774"/>
          </a:xfrm>
          <a:prstGeom prst="rect">
            <a:avLst/>
          </a:prstGeom>
        </p:spPr>
      </p:pic>
      <p:sp>
        <p:nvSpPr>
          <p:cNvPr id="15" name="TextBox 14">
            <a:extLst>
              <a:ext uri="{FF2B5EF4-FFF2-40B4-BE49-F238E27FC236}">
                <a16:creationId xmlns:a16="http://schemas.microsoft.com/office/drawing/2014/main" id="{4C3E2D9B-D6A5-418E-89CE-123C03207B1C}"/>
              </a:ext>
            </a:extLst>
          </p:cNvPr>
          <p:cNvSpPr txBox="1"/>
          <p:nvPr/>
        </p:nvSpPr>
        <p:spPr>
          <a:xfrm>
            <a:off x="7271133" y="841113"/>
            <a:ext cx="1729648" cy="646331"/>
          </a:xfrm>
          <a:prstGeom prst="rect">
            <a:avLst/>
          </a:prstGeom>
          <a:noFill/>
        </p:spPr>
        <p:txBody>
          <a:bodyPr wrap="square" rtlCol="0">
            <a:spAutoFit/>
          </a:bodyPr>
          <a:lstStyle/>
          <a:p>
            <a:endParaRPr lang="en-US" dirty="0"/>
          </a:p>
          <a:p>
            <a:r>
              <a:rPr lang="en-IN" b="1" dirty="0">
                <a:sym typeface="Wingdings" panose="05000000000000000000" pitchFamily="2" charset="2"/>
              </a:rPr>
              <a:t>Input</a:t>
            </a:r>
            <a:endParaRPr lang="en-IN" dirty="0"/>
          </a:p>
        </p:txBody>
      </p:sp>
      <p:sp>
        <p:nvSpPr>
          <p:cNvPr id="16" name="TextBox 15">
            <a:extLst>
              <a:ext uri="{FF2B5EF4-FFF2-40B4-BE49-F238E27FC236}">
                <a16:creationId xmlns:a16="http://schemas.microsoft.com/office/drawing/2014/main" id="{6566EC15-4C61-420E-87C4-F7129E6B270C}"/>
              </a:ext>
            </a:extLst>
          </p:cNvPr>
          <p:cNvSpPr txBox="1"/>
          <p:nvPr/>
        </p:nvSpPr>
        <p:spPr>
          <a:xfrm>
            <a:off x="7271133" y="5354198"/>
            <a:ext cx="1244217" cy="369332"/>
          </a:xfrm>
          <a:prstGeom prst="rect">
            <a:avLst/>
          </a:prstGeom>
          <a:noFill/>
        </p:spPr>
        <p:txBody>
          <a:bodyPr wrap="square" rtlCol="0">
            <a:spAutoFit/>
          </a:bodyPr>
          <a:lstStyle/>
          <a:p>
            <a:r>
              <a:rPr lang="en-US" b="1" dirty="0">
                <a:sym typeface="Wingdings" panose="05000000000000000000" pitchFamily="2" charset="2"/>
              </a:rPr>
              <a:t>RESULT</a:t>
            </a:r>
            <a:endParaRPr lang="en-IN" dirty="0"/>
          </a:p>
        </p:txBody>
      </p:sp>
    </p:spTree>
    <p:extLst>
      <p:ext uri="{BB962C8B-B14F-4D97-AF65-F5344CB8AC3E}">
        <p14:creationId xmlns:p14="http://schemas.microsoft.com/office/powerpoint/2010/main" val="11265239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F3077-6D02-CE4D-D4F8-094054026F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26395F-893D-7F37-D0EB-DD801F9BAD88}"/>
              </a:ext>
            </a:extLst>
          </p:cNvPr>
          <p:cNvSpPr>
            <a:spLocks noGrp="1"/>
          </p:cNvSpPr>
          <p:nvPr>
            <p:ph type="title"/>
          </p:nvPr>
        </p:nvSpPr>
        <p:spPr>
          <a:xfrm>
            <a:off x="628650" y="165991"/>
            <a:ext cx="7886700" cy="530258"/>
          </a:xfrm>
        </p:spPr>
        <p:txBody>
          <a:bodyPr>
            <a:noAutofit/>
          </a:bodyPr>
          <a:lstStyle/>
          <a:p>
            <a:pPr algn="ctr"/>
            <a:r>
              <a:rPr lang="en-US"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Screen Shots</a:t>
            </a:r>
            <a:endParaRPr lang="en-IN" sz="19900" b="1" dirty="0">
              <a:solidFill>
                <a:srgbClr val="7030A0"/>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6E10206F-5FFC-B4D6-DE2C-664A7D179828}"/>
              </a:ext>
            </a:extLst>
          </p:cNvPr>
          <p:cNvSpPr>
            <a:spLocks noGrp="1"/>
          </p:cNvSpPr>
          <p:nvPr>
            <p:ph type="sldNum" sz="quarter" idx="12"/>
          </p:nvPr>
        </p:nvSpPr>
        <p:spPr/>
        <p:txBody>
          <a:bodyPr/>
          <a:lstStyle/>
          <a:p>
            <a:fld id="{9D3FF152-60F5-4862-82F9-1190556AA56F}" type="slidenum">
              <a:rPr lang="en-IN" smtClean="0"/>
              <a:t>23</a:t>
            </a:fld>
            <a:endParaRPr lang="en-IN"/>
          </a:p>
        </p:txBody>
      </p:sp>
      <p:sp>
        <p:nvSpPr>
          <p:cNvPr id="6" name="Footer Placeholder 5">
            <a:extLst>
              <a:ext uri="{FF2B5EF4-FFF2-40B4-BE49-F238E27FC236}">
                <a16:creationId xmlns:a16="http://schemas.microsoft.com/office/drawing/2014/main" id="{5B76BDE4-1258-192F-3519-27C34EC23DBF}"/>
              </a:ext>
            </a:extLst>
          </p:cNvPr>
          <p:cNvSpPr>
            <a:spLocks noGrp="1"/>
          </p:cNvSpPr>
          <p:nvPr>
            <p:ph type="ftr" sz="quarter" idx="11"/>
          </p:nvPr>
        </p:nvSpPr>
        <p:spPr/>
        <p:txBody>
          <a:bodyPr/>
          <a:lstStyle/>
          <a:p>
            <a:r>
              <a:rPr lang="en-IN" b="1"/>
              <a:t>Leveraging Deep Learning for Intelligent Driver Behavior Analysis for Road Safety</a:t>
            </a:r>
          </a:p>
        </p:txBody>
      </p:sp>
      <p:pic>
        <p:nvPicPr>
          <p:cNvPr id="7" name="Picture 6">
            <a:extLst>
              <a:ext uri="{FF2B5EF4-FFF2-40B4-BE49-F238E27FC236}">
                <a16:creationId xmlns:a16="http://schemas.microsoft.com/office/drawing/2014/main" id="{8D068D24-B25D-443B-BFE7-CDC2D5FEA4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96249"/>
            <a:ext cx="4362679" cy="5221971"/>
          </a:xfrm>
          <a:prstGeom prst="rect">
            <a:avLst/>
          </a:prstGeom>
        </p:spPr>
      </p:pic>
      <p:pic>
        <p:nvPicPr>
          <p:cNvPr id="9" name="Picture 8">
            <a:extLst>
              <a:ext uri="{FF2B5EF4-FFF2-40B4-BE49-F238E27FC236}">
                <a16:creationId xmlns:a16="http://schemas.microsoft.com/office/drawing/2014/main" id="{82449F14-4870-468E-8924-4500209D3E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696248"/>
            <a:ext cx="4528451" cy="5221971"/>
          </a:xfrm>
          <a:prstGeom prst="rect">
            <a:avLst/>
          </a:prstGeom>
        </p:spPr>
      </p:pic>
    </p:spTree>
    <p:extLst>
      <p:ext uri="{BB962C8B-B14F-4D97-AF65-F5344CB8AC3E}">
        <p14:creationId xmlns:p14="http://schemas.microsoft.com/office/powerpoint/2010/main" val="20233878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sz="40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Conclusion / Feature Enhancement</a:t>
            </a:r>
            <a:endParaRPr lang="en-IN" sz="4000" b="1" dirty="0">
              <a:solidFill>
                <a:srgbClr val="7030A0"/>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F5220BD1-1A25-E8B3-BE29-F8796FD4F8FA}"/>
              </a:ext>
            </a:extLst>
          </p:cNvPr>
          <p:cNvSpPr>
            <a:spLocks noGrp="1"/>
          </p:cNvSpPr>
          <p:nvPr>
            <p:ph type="sldNum" sz="quarter" idx="12"/>
          </p:nvPr>
        </p:nvSpPr>
        <p:spPr/>
        <p:txBody>
          <a:bodyPr/>
          <a:lstStyle/>
          <a:p>
            <a:fld id="{9D3FF152-60F5-4862-82F9-1190556AA56F}" type="slidenum">
              <a:rPr lang="en-IN" smtClean="0"/>
              <a:t>24</a:t>
            </a:fld>
            <a:endParaRPr lang="en-IN"/>
          </a:p>
        </p:txBody>
      </p:sp>
      <p:sp>
        <p:nvSpPr>
          <p:cNvPr id="4" name="Footer Placeholder 3">
            <a:extLst>
              <a:ext uri="{FF2B5EF4-FFF2-40B4-BE49-F238E27FC236}">
                <a16:creationId xmlns:a16="http://schemas.microsoft.com/office/drawing/2014/main" id="{D60D3D79-E23D-B8E6-A891-AB9847E89CF7}"/>
              </a:ext>
            </a:extLst>
          </p:cNvPr>
          <p:cNvSpPr>
            <a:spLocks noGrp="1"/>
          </p:cNvSpPr>
          <p:nvPr>
            <p:ph type="ftr" sz="quarter" idx="11"/>
          </p:nvPr>
        </p:nvSpPr>
        <p:spPr/>
        <p:txBody>
          <a:bodyPr/>
          <a:lstStyle/>
          <a:p>
            <a:r>
              <a:rPr lang="en-IN" b="1"/>
              <a:t>Leveraging Deep Learning for Intelligent Driver Behavior Analysis for Road Safety</a:t>
            </a:r>
          </a:p>
        </p:txBody>
      </p:sp>
      <p:sp>
        <p:nvSpPr>
          <p:cNvPr id="3" name="TextBox 2">
            <a:extLst>
              <a:ext uri="{FF2B5EF4-FFF2-40B4-BE49-F238E27FC236}">
                <a16:creationId xmlns:a16="http://schemas.microsoft.com/office/drawing/2014/main" id="{D9A46400-D260-4DF5-955C-B7350D03FA56}"/>
              </a:ext>
            </a:extLst>
          </p:cNvPr>
          <p:cNvSpPr txBox="1"/>
          <p:nvPr/>
        </p:nvSpPr>
        <p:spPr>
          <a:xfrm>
            <a:off x="765672" y="843677"/>
            <a:ext cx="7612655" cy="2585323"/>
          </a:xfrm>
          <a:prstGeom prst="rect">
            <a:avLst/>
          </a:prstGeom>
          <a:noFill/>
        </p:spPr>
        <p:txBody>
          <a:bodyPr wrap="square" rtlCol="0">
            <a:spAutoFit/>
          </a:bodyPr>
          <a:lstStyle/>
          <a:p>
            <a:pPr algn="just"/>
            <a:r>
              <a:rPr lang="en-US" i="0" dirty="0">
                <a:effectLst/>
                <a:latin typeface="Times New Roman" panose="02020603050405020304" pitchFamily="18" charset="0"/>
                <a:cs typeface="Times New Roman" panose="02020603050405020304" pitchFamily="18" charset="0"/>
              </a:rPr>
              <a:t>The Driver Behavior Detection System is a robust and efficient solution designed to classify and analyze driver behavior using image data. By leveraging advanced machine learning techniques, the system automates the process of detecting unsafe driving activities such as texting, talking on the phone, and other distractions. The system addresses critical challenges such as manual data processing, human errors, and the need for real-time monitoring. Through its intuitive interface, accurate classification, and interactive visualizations, the system empowers users to identify risky driving behaviors and take proactive measures to improve road safety.</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BFFF565-CEC8-417F-9867-17B0353A1EF6}"/>
              </a:ext>
            </a:extLst>
          </p:cNvPr>
          <p:cNvSpPr txBox="1"/>
          <p:nvPr/>
        </p:nvSpPr>
        <p:spPr>
          <a:xfrm>
            <a:off x="699914" y="3576428"/>
            <a:ext cx="7744169" cy="2862322"/>
          </a:xfrm>
          <a:prstGeom prst="rect">
            <a:avLst/>
          </a:prstGeom>
          <a:noFill/>
        </p:spPr>
        <p:txBody>
          <a:bodyPr wrap="square" rtlCol="0">
            <a:spAutoFit/>
          </a:bodyPr>
          <a:lstStyle/>
          <a:p>
            <a:pPr algn="just"/>
            <a:r>
              <a:rPr lang="en-US" b="1" i="0" dirty="0">
                <a:effectLst/>
                <a:latin typeface="Times New Roman" panose="02020603050405020304" pitchFamily="18" charset="0"/>
                <a:cs typeface="Times New Roman" panose="02020603050405020304" pitchFamily="18" charset="0"/>
              </a:rPr>
              <a:t>Key Features and Benefits:</a:t>
            </a:r>
          </a:p>
          <a:p>
            <a:pPr algn="just">
              <a:buFont typeface="+mj-lt"/>
              <a:buAutoNum type="arabicPeriod"/>
            </a:pPr>
            <a:r>
              <a:rPr lang="en-US" i="0" dirty="0">
                <a:effectLst/>
                <a:latin typeface="Times New Roman" panose="02020603050405020304" pitchFamily="18" charset="0"/>
                <a:cs typeface="Times New Roman" panose="02020603050405020304" pitchFamily="18" charset="0"/>
              </a:rPr>
              <a:t>Automated Data Processing: The system automates the extraction, preprocessing, and classification of driver behavior data, reducing manual effort and minimizing errors.</a:t>
            </a:r>
          </a:p>
          <a:p>
            <a:pPr algn="just">
              <a:buFont typeface="+mj-lt"/>
              <a:buAutoNum type="arabicPeriod"/>
            </a:pPr>
            <a:r>
              <a:rPr lang="en-US" i="0" dirty="0">
                <a:effectLst/>
                <a:latin typeface="Times New Roman" panose="02020603050405020304" pitchFamily="18" charset="0"/>
                <a:cs typeface="Times New Roman" panose="02020603050405020304" pitchFamily="18" charset="0"/>
              </a:rPr>
              <a:t>Real-Time Monitoring: By integrating real-time image processing, the system can detect and alert users about unsafe driving behaviors as they occur.</a:t>
            </a:r>
          </a:p>
          <a:p>
            <a:pPr algn="just">
              <a:buFont typeface="+mj-lt"/>
              <a:buAutoNum type="arabicPeriod"/>
            </a:pPr>
            <a:r>
              <a:rPr lang="en-US" i="0" dirty="0">
                <a:effectLst/>
                <a:latin typeface="Times New Roman" panose="02020603050405020304" pitchFamily="18" charset="0"/>
                <a:cs typeface="Times New Roman" panose="02020603050405020304" pitchFamily="18" charset="0"/>
              </a:rPr>
              <a:t>Interactive Dashboards: The system provides interactive dashboards that visualize key metrics, such as the frequency of unsafe behaviors, enabling users to gain actionable insights.</a:t>
            </a:r>
          </a:p>
          <a:p>
            <a:pPr algn="just"/>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19395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1C411-5D27-92D9-9597-A574A49E13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2A1543-D256-4B75-AAD7-A2A93EADC9F0}"/>
              </a:ext>
            </a:extLst>
          </p:cNvPr>
          <p:cNvSpPr>
            <a:spLocks noGrp="1"/>
          </p:cNvSpPr>
          <p:nvPr>
            <p:ph type="title"/>
          </p:nvPr>
        </p:nvSpPr>
        <p:spPr>
          <a:xfrm>
            <a:off x="628650" y="165991"/>
            <a:ext cx="7886700" cy="530258"/>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Conclusion / Feature Enhancement</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C64153E0-C6B7-C7C8-1237-D8BEBEB4B1D7}"/>
              </a:ext>
            </a:extLst>
          </p:cNvPr>
          <p:cNvSpPr>
            <a:spLocks noGrp="1"/>
          </p:cNvSpPr>
          <p:nvPr>
            <p:ph type="sldNum" sz="quarter" idx="12"/>
          </p:nvPr>
        </p:nvSpPr>
        <p:spPr/>
        <p:txBody>
          <a:bodyPr/>
          <a:lstStyle/>
          <a:p>
            <a:fld id="{9D3FF152-60F5-4862-82F9-1190556AA56F}" type="slidenum">
              <a:rPr lang="en-IN" smtClean="0"/>
              <a:t>25</a:t>
            </a:fld>
            <a:endParaRPr lang="en-IN"/>
          </a:p>
        </p:txBody>
      </p:sp>
      <p:sp>
        <p:nvSpPr>
          <p:cNvPr id="4" name="Footer Placeholder 3">
            <a:extLst>
              <a:ext uri="{FF2B5EF4-FFF2-40B4-BE49-F238E27FC236}">
                <a16:creationId xmlns:a16="http://schemas.microsoft.com/office/drawing/2014/main" id="{F5939CD2-8F48-297E-A0A6-4CB1472F63C6}"/>
              </a:ext>
            </a:extLst>
          </p:cNvPr>
          <p:cNvSpPr>
            <a:spLocks noGrp="1"/>
          </p:cNvSpPr>
          <p:nvPr>
            <p:ph type="ftr" sz="quarter" idx="11"/>
          </p:nvPr>
        </p:nvSpPr>
        <p:spPr/>
        <p:txBody>
          <a:bodyPr/>
          <a:lstStyle/>
          <a:p>
            <a:r>
              <a:rPr lang="en-IN" b="1"/>
              <a:t>Leveraging Deep Learning for Intelligent Driver Behavior Analysis for Road Safety</a:t>
            </a:r>
          </a:p>
        </p:txBody>
      </p:sp>
      <p:sp>
        <p:nvSpPr>
          <p:cNvPr id="3" name="TextBox 2">
            <a:extLst>
              <a:ext uri="{FF2B5EF4-FFF2-40B4-BE49-F238E27FC236}">
                <a16:creationId xmlns:a16="http://schemas.microsoft.com/office/drawing/2014/main" id="{42452666-CFBE-4097-829F-46F32079C346}"/>
              </a:ext>
            </a:extLst>
          </p:cNvPr>
          <p:cNvSpPr txBox="1"/>
          <p:nvPr/>
        </p:nvSpPr>
        <p:spPr>
          <a:xfrm>
            <a:off x="297455" y="947451"/>
            <a:ext cx="8217895" cy="4524315"/>
          </a:xfrm>
          <a:prstGeom prst="rect">
            <a:avLst/>
          </a:prstGeom>
          <a:noFill/>
        </p:spPr>
        <p:txBody>
          <a:bodyPr wrap="square" rtlCol="0">
            <a:spAutoFit/>
          </a:bodyPr>
          <a:lstStyle/>
          <a:p>
            <a:pPr algn="just">
              <a:buFont typeface="+mj-lt"/>
              <a:buAutoNum type="arabicPeriod"/>
            </a:pPr>
            <a:r>
              <a:rPr lang="en-US" i="0" dirty="0">
                <a:solidFill>
                  <a:schemeClr val="tx1">
                    <a:lumMod val="95000"/>
                    <a:lumOff val="5000"/>
                  </a:schemeClr>
                </a:solidFill>
                <a:effectLst/>
                <a:latin typeface="Times New Roman" panose="02020603050405020304" pitchFamily="18" charset="0"/>
                <a:cs typeface="Times New Roman" panose="02020603050405020304" pitchFamily="18" charset="0"/>
              </a:rPr>
              <a:t>Customizable Alerts: Users can set up customizable alerts for specific behaviors, ensuring timely intervention and corrective actions.</a:t>
            </a:r>
          </a:p>
          <a:p>
            <a:pPr algn="just">
              <a:buFont typeface="+mj-lt"/>
              <a:buAutoNum type="arabicPeriod"/>
            </a:pPr>
            <a:r>
              <a:rPr lang="en-US" i="0" dirty="0">
                <a:solidFill>
                  <a:schemeClr val="tx1">
                    <a:lumMod val="95000"/>
                    <a:lumOff val="5000"/>
                  </a:schemeClr>
                </a:solidFill>
                <a:effectLst/>
                <a:latin typeface="Times New Roman" panose="02020603050405020304" pitchFamily="18" charset="0"/>
                <a:cs typeface="Times New Roman" panose="02020603050405020304" pitchFamily="18" charset="0"/>
              </a:rPr>
              <a:t>Scalability: The system is designed to handle large datasets, making it suitable for fleet management, insurance companies, and individual drivers.</a:t>
            </a:r>
          </a:p>
          <a:p>
            <a:pPr algn="just">
              <a:buFont typeface="+mj-lt"/>
              <a:buAutoNum type="arabicPeriod"/>
            </a:pPr>
            <a:r>
              <a:rPr lang="en-US" i="0" dirty="0">
                <a:solidFill>
                  <a:schemeClr val="tx1">
                    <a:lumMod val="95000"/>
                    <a:lumOff val="5000"/>
                  </a:schemeClr>
                </a:solidFill>
                <a:effectLst/>
                <a:latin typeface="Times New Roman" panose="02020603050405020304" pitchFamily="18" charset="0"/>
                <a:cs typeface="Times New Roman" panose="02020603050405020304" pitchFamily="18" charset="0"/>
              </a:rPr>
              <a:t>User-Friendly Interface: The intuitive interface ensures that users with minimal technical expertise can easily navigate and utilize the system.</a:t>
            </a:r>
          </a:p>
          <a:p>
            <a:pPr algn="just"/>
            <a:endParaRPr lang="en-US" i="0" dirty="0">
              <a:solidFill>
                <a:schemeClr val="tx1">
                  <a:lumMod val="95000"/>
                  <a:lumOff val="5000"/>
                </a:schemeClr>
              </a:solidFill>
              <a:effectLst/>
              <a:latin typeface="Times New Roman" panose="02020603050405020304" pitchFamily="18" charset="0"/>
              <a:cs typeface="Times New Roman" panose="02020603050405020304" pitchFamily="18" charset="0"/>
            </a:endParaRPr>
          </a:p>
          <a:p>
            <a:pPr algn="just"/>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r>
              <a:rPr lang="en-US" i="0" dirty="0">
                <a:solidFill>
                  <a:schemeClr val="tx1">
                    <a:lumMod val="95000"/>
                    <a:lumOff val="5000"/>
                  </a:schemeClr>
                </a:solidFill>
                <a:effectLst/>
                <a:latin typeface="Times New Roman" panose="02020603050405020304" pitchFamily="18" charset="0"/>
                <a:cs typeface="Times New Roman" panose="02020603050405020304" pitchFamily="18" charset="0"/>
              </a:rPr>
              <a:t>The Driver Behavior Detection System is a cutting-edge solution that addresses the growing need for safer driving practices. By automating the detection of unsafe behaviors and providing actionable insights, the system empowers users to reduce risks, improve compliance, and enhance overall road safety. With the proposed feature enhancements, the system can further evolve into a comprehensive tool for real-time monitoring, behavioral analytics, and decision support, making it an indispensable asset for individuals, businesses, and organizations focused on driver safety</a:t>
            </a:r>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buFont typeface="+mj-lt"/>
              <a:buAutoNum type="arabicPeriod"/>
            </a:pPr>
            <a:endParaRPr lang="en-US" i="0" dirty="0">
              <a:solidFill>
                <a:schemeClr val="tx1">
                  <a:lumMod val="95000"/>
                  <a:lumOff val="5000"/>
                </a:schemeClr>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25085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A726-45BD-4B17-BF54-42F7352C7AE4}"/>
              </a:ext>
            </a:extLst>
          </p:cNvPr>
          <p:cNvSpPr>
            <a:spLocks noGrp="1"/>
          </p:cNvSpPr>
          <p:nvPr>
            <p:ph type="title"/>
          </p:nvPr>
        </p:nvSpPr>
        <p:spPr>
          <a:xfrm>
            <a:off x="628650" y="165991"/>
            <a:ext cx="7886700" cy="530258"/>
          </a:xfrm>
        </p:spPr>
        <p:txBody>
          <a:bodyPr>
            <a:noAutofit/>
          </a:bodyPr>
          <a:lstStyle/>
          <a:p>
            <a:pPr algn="ctr"/>
            <a:r>
              <a:rPr lang="en-US" b="1" dirty="0">
                <a:solidFill>
                  <a:srgbClr val="7030A0"/>
                </a:solidFill>
                <a:latin typeface="Times New Roman" panose="02020603050405020304" pitchFamily="18" charset="0"/>
                <a:cs typeface="Times New Roman" panose="02020603050405020304" pitchFamily="18" charset="0"/>
              </a:rPr>
              <a:t>Reference Paper/ URL</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43E9B934-EE6A-1A45-AAAE-017246AA72E8}"/>
              </a:ext>
            </a:extLst>
          </p:cNvPr>
          <p:cNvSpPr>
            <a:spLocks noGrp="1"/>
          </p:cNvSpPr>
          <p:nvPr>
            <p:ph type="sldNum" sz="quarter" idx="12"/>
          </p:nvPr>
        </p:nvSpPr>
        <p:spPr/>
        <p:txBody>
          <a:bodyPr/>
          <a:lstStyle/>
          <a:p>
            <a:fld id="{9D3FF152-60F5-4862-82F9-1190556AA56F}" type="slidenum">
              <a:rPr lang="en-IN" smtClean="0"/>
              <a:t>26</a:t>
            </a:fld>
            <a:endParaRPr lang="en-IN"/>
          </a:p>
        </p:txBody>
      </p:sp>
      <p:sp>
        <p:nvSpPr>
          <p:cNvPr id="4" name="Footer Placeholder 3">
            <a:extLst>
              <a:ext uri="{FF2B5EF4-FFF2-40B4-BE49-F238E27FC236}">
                <a16:creationId xmlns:a16="http://schemas.microsoft.com/office/drawing/2014/main" id="{4E20D2F8-BD1F-BE3A-17E5-8E06A4AE8342}"/>
              </a:ext>
            </a:extLst>
          </p:cNvPr>
          <p:cNvSpPr>
            <a:spLocks noGrp="1"/>
          </p:cNvSpPr>
          <p:nvPr>
            <p:ph type="ftr" sz="quarter" idx="11"/>
          </p:nvPr>
        </p:nvSpPr>
        <p:spPr/>
        <p:txBody>
          <a:bodyPr/>
          <a:lstStyle/>
          <a:p>
            <a:r>
              <a:rPr lang="en-IN" b="1"/>
              <a:t>Leveraging Deep Learning for Intelligent Driver Behavior Analysis for Road Safety</a:t>
            </a:r>
          </a:p>
        </p:txBody>
      </p:sp>
      <p:sp>
        <p:nvSpPr>
          <p:cNvPr id="5" name="TextBox 4">
            <a:extLst>
              <a:ext uri="{FF2B5EF4-FFF2-40B4-BE49-F238E27FC236}">
                <a16:creationId xmlns:a16="http://schemas.microsoft.com/office/drawing/2014/main" id="{C02CA107-C8FE-4E1F-9AC2-BC87DB4C788D}"/>
              </a:ext>
            </a:extLst>
          </p:cNvPr>
          <p:cNvSpPr txBox="1"/>
          <p:nvPr/>
        </p:nvSpPr>
        <p:spPr>
          <a:xfrm>
            <a:off x="220338" y="1013552"/>
            <a:ext cx="8494004" cy="4247317"/>
          </a:xfrm>
          <a:prstGeom prst="rect">
            <a:avLst/>
          </a:prstGeom>
          <a:noFill/>
        </p:spPr>
        <p:txBody>
          <a:bodyPr wrap="square" rtlCol="0">
            <a:spAutoFit/>
          </a:bodyPr>
          <a:lstStyle/>
          <a:p>
            <a:pPr algn="just">
              <a:buFont typeface="+mj-lt"/>
              <a:buAutoNum type="arabicPeriod"/>
            </a:pPr>
            <a:r>
              <a:rPr lang="en-IN" i="0" dirty="0">
                <a:solidFill>
                  <a:schemeClr val="tx1">
                    <a:lumMod val="95000"/>
                    <a:lumOff val="5000"/>
                  </a:schemeClr>
                </a:solidFill>
                <a:effectLst/>
                <a:latin typeface="Times New Roman" panose="02020603050405020304" pitchFamily="18" charset="0"/>
                <a:cs typeface="Times New Roman" panose="02020603050405020304" pitchFamily="18" charset="0"/>
              </a:rPr>
              <a:t>Qu, Y., Liu, Y., Zhou, D., &amp; </a:t>
            </a:r>
            <a:r>
              <a:rPr lang="en-IN" i="0" dirty="0" err="1">
                <a:solidFill>
                  <a:schemeClr val="tx1">
                    <a:lumMod val="95000"/>
                    <a:lumOff val="5000"/>
                  </a:schemeClr>
                </a:solidFill>
                <a:effectLst/>
                <a:latin typeface="Times New Roman" panose="02020603050405020304" pitchFamily="18" charset="0"/>
                <a:cs typeface="Times New Roman" panose="02020603050405020304" pitchFamily="18" charset="0"/>
              </a:rPr>
              <a:t>Azadani</a:t>
            </a:r>
            <a:r>
              <a:rPr lang="en-IN" i="0" dirty="0">
                <a:solidFill>
                  <a:schemeClr val="tx1">
                    <a:lumMod val="95000"/>
                    <a:lumOff val="5000"/>
                  </a:schemeClr>
                </a:solidFill>
                <a:effectLst/>
                <a:latin typeface="Times New Roman" panose="02020603050405020304" pitchFamily="18" charset="0"/>
                <a:cs typeface="Times New Roman" panose="02020603050405020304" pitchFamily="18" charset="0"/>
              </a:rPr>
              <a:t>, M.N. (2023). Driver State Monitoring Technology for Conditionally Automated Vehicles: Review and Future Prospects. </a:t>
            </a:r>
            <a:r>
              <a:rPr lang="en-IN" i="1" dirty="0">
                <a:solidFill>
                  <a:schemeClr val="tx1">
                    <a:lumMod val="95000"/>
                    <a:lumOff val="5000"/>
                  </a:schemeClr>
                </a:solidFill>
                <a:effectLst/>
                <a:latin typeface="Times New Roman" panose="02020603050405020304" pitchFamily="18" charset="0"/>
                <a:cs typeface="Times New Roman" panose="02020603050405020304" pitchFamily="18" charset="0"/>
              </a:rPr>
              <a:t>IEEE Transactions on Instrumentation and Measurement</a:t>
            </a:r>
            <a:r>
              <a:rPr lang="en-IN" i="0" dirty="0">
                <a:solidFill>
                  <a:schemeClr val="tx1">
                    <a:lumMod val="95000"/>
                    <a:lumOff val="5000"/>
                  </a:schemeClr>
                </a:solidFill>
                <a:effectLst/>
                <a:latin typeface="Times New Roman" panose="02020603050405020304" pitchFamily="18" charset="0"/>
                <a:cs typeface="Times New Roman" panose="02020603050405020304" pitchFamily="18" charset="0"/>
              </a:rPr>
              <a:t>.</a:t>
            </a:r>
          </a:p>
          <a:p>
            <a:pPr algn="just">
              <a:buFont typeface="+mj-lt"/>
              <a:buAutoNum type="arabicPeriod"/>
            </a:pPr>
            <a:r>
              <a:rPr lang="en-IN" i="0" dirty="0">
                <a:solidFill>
                  <a:schemeClr val="tx1">
                    <a:lumMod val="95000"/>
                    <a:lumOff val="5000"/>
                  </a:schemeClr>
                </a:solidFill>
                <a:effectLst/>
                <a:latin typeface="Times New Roman" panose="02020603050405020304" pitchFamily="18" charset="0"/>
                <a:cs typeface="Times New Roman" panose="02020603050405020304" pitchFamily="18" charset="0"/>
              </a:rPr>
              <a:t>Liu, Y.Q., &amp; Wang, X.Y. (2020). The Analysis of Driver's </a:t>
            </a:r>
            <a:r>
              <a:rPr lang="en-IN" i="0" dirty="0" err="1">
                <a:solidFill>
                  <a:schemeClr val="tx1">
                    <a:lumMod val="95000"/>
                    <a:lumOff val="5000"/>
                  </a:schemeClr>
                </a:solidFill>
                <a:effectLst/>
                <a:latin typeface="Times New Roman" panose="02020603050405020304" pitchFamily="18" charset="0"/>
                <a:cs typeface="Times New Roman" panose="02020603050405020304" pitchFamily="18" charset="0"/>
              </a:rPr>
              <a:t>Behavioral</a:t>
            </a:r>
            <a:r>
              <a:rPr lang="en-IN" i="0" dirty="0">
                <a:solidFill>
                  <a:schemeClr val="tx1">
                    <a:lumMod val="95000"/>
                    <a:lumOff val="5000"/>
                  </a:schemeClr>
                </a:solidFill>
                <a:effectLst/>
                <a:latin typeface="Times New Roman" panose="02020603050405020304" pitchFamily="18" charset="0"/>
                <a:cs typeface="Times New Roman" panose="02020603050405020304" pitchFamily="18" charset="0"/>
              </a:rPr>
              <a:t> Tendency Under Different Emotional States Based on a Bayesian Network. </a:t>
            </a:r>
            <a:r>
              <a:rPr lang="en-IN" i="1" dirty="0">
                <a:solidFill>
                  <a:schemeClr val="tx1">
                    <a:lumMod val="95000"/>
                    <a:lumOff val="5000"/>
                  </a:schemeClr>
                </a:solidFill>
                <a:effectLst/>
                <a:latin typeface="Times New Roman" panose="02020603050405020304" pitchFamily="18" charset="0"/>
                <a:cs typeface="Times New Roman" panose="02020603050405020304" pitchFamily="18" charset="0"/>
              </a:rPr>
              <a:t>IEEE Transactions on Affective Computing</a:t>
            </a:r>
            <a:r>
              <a:rPr lang="en-IN" i="0" dirty="0">
                <a:solidFill>
                  <a:schemeClr val="tx1">
                    <a:lumMod val="95000"/>
                    <a:lumOff val="5000"/>
                  </a:schemeClr>
                </a:solidFill>
                <a:effectLst/>
                <a:latin typeface="Times New Roman" panose="02020603050405020304" pitchFamily="18" charset="0"/>
                <a:cs typeface="Times New Roman" panose="02020603050405020304" pitchFamily="18" charset="0"/>
              </a:rPr>
              <a:t>.</a:t>
            </a:r>
          </a:p>
          <a:p>
            <a:pPr algn="just">
              <a:buFont typeface="+mj-lt"/>
              <a:buAutoNum type="arabicPeriod"/>
            </a:pPr>
            <a:r>
              <a:rPr lang="en-IN" i="0" dirty="0">
                <a:solidFill>
                  <a:schemeClr val="tx1">
                    <a:lumMod val="95000"/>
                    <a:lumOff val="5000"/>
                  </a:schemeClr>
                </a:solidFill>
                <a:effectLst/>
                <a:latin typeface="Times New Roman" panose="02020603050405020304" pitchFamily="18" charset="0"/>
                <a:cs typeface="Times New Roman" panose="02020603050405020304" pitchFamily="18" charset="0"/>
              </a:rPr>
              <a:t>Zhou, D., Lu, C., &amp; Wang, Z. (2021). Driving </a:t>
            </a:r>
            <a:r>
              <a:rPr lang="en-IN" i="0" dirty="0" err="1">
                <a:solidFill>
                  <a:schemeClr val="tx1">
                    <a:lumMod val="95000"/>
                    <a:lumOff val="5000"/>
                  </a:schemeClr>
                </a:solidFill>
                <a:effectLst/>
                <a:latin typeface="Times New Roman" panose="02020603050405020304" pitchFamily="18" charset="0"/>
                <a:cs typeface="Times New Roman" panose="02020603050405020304" pitchFamily="18" charset="0"/>
              </a:rPr>
              <a:t>Behavior</a:t>
            </a:r>
            <a:r>
              <a:rPr lang="en-IN" i="0" dirty="0">
                <a:solidFill>
                  <a:schemeClr val="tx1">
                    <a:lumMod val="95000"/>
                    <a:lumOff val="5000"/>
                  </a:schemeClr>
                </a:solidFill>
                <a:effectLst/>
                <a:latin typeface="Times New Roman" panose="02020603050405020304" pitchFamily="18" charset="0"/>
                <a:cs typeface="Times New Roman" panose="02020603050405020304" pitchFamily="18" charset="0"/>
              </a:rPr>
              <a:t> Prediction Considering Cognitive Prior and Driving Context. </a:t>
            </a:r>
            <a:r>
              <a:rPr lang="en-IN" i="1" dirty="0">
                <a:solidFill>
                  <a:schemeClr val="tx1">
                    <a:lumMod val="95000"/>
                    <a:lumOff val="5000"/>
                  </a:schemeClr>
                </a:solidFill>
                <a:effectLst/>
                <a:latin typeface="Times New Roman" panose="02020603050405020304" pitchFamily="18" charset="0"/>
                <a:cs typeface="Times New Roman" panose="02020603050405020304" pitchFamily="18" charset="0"/>
              </a:rPr>
              <a:t>IEEE Transactions on Intelligent Transportation Systems</a:t>
            </a:r>
            <a:r>
              <a:rPr lang="en-IN" i="0" dirty="0">
                <a:solidFill>
                  <a:schemeClr val="tx1">
                    <a:lumMod val="95000"/>
                    <a:lumOff val="5000"/>
                  </a:schemeClr>
                </a:solidFill>
                <a:effectLst/>
                <a:latin typeface="Times New Roman" panose="02020603050405020304" pitchFamily="18" charset="0"/>
                <a:cs typeface="Times New Roman" panose="02020603050405020304" pitchFamily="18" charset="0"/>
              </a:rPr>
              <a:t>.</a:t>
            </a:r>
          </a:p>
          <a:p>
            <a:pPr algn="just">
              <a:buFont typeface="+mj-lt"/>
              <a:buAutoNum type="arabicPeriod"/>
            </a:pPr>
            <a:r>
              <a:rPr lang="en-IN" i="0" dirty="0" err="1">
                <a:solidFill>
                  <a:schemeClr val="tx1">
                    <a:lumMod val="95000"/>
                    <a:lumOff val="5000"/>
                  </a:schemeClr>
                </a:solidFill>
                <a:effectLst/>
                <a:latin typeface="Times New Roman" panose="02020603050405020304" pitchFamily="18" charset="0"/>
                <a:cs typeface="Times New Roman" panose="02020603050405020304" pitchFamily="18" charset="0"/>
              </a:rPr>
              <a:t>Azadani</a:t>
            </a:r>
            <a:r>
              <a:rPr lang="en-IN" i="0" dirty="0">
                <a:solidFill>
                  <a:schemeClr val="tx1">
                    <a:lumMod val="95000"/>
                    <a:lumOff val="5000"/>
                  </a:schemeClr>
                </a:solidFill>
                <a:effectLst/>
                <a:latin typeface="Times New Roman" panose="02020603050405020304" pitchFamily="18" charset="0"/>
                <a:cs typeface="Times New Roman" panose="02020603050405020304" pitchFamily="18" charset="0"/>
              </a:rPr>
              <a:t>, M.N., &amp; </a:t>
            </a:r>
            <a:r>
              <a:rPr lang="en-IN" i="0" dirty="0" err="1">
                <a:solidFill>
                  <a:schemeClr val="tx1">
                    <a:lumMod val="95000"/>
                    <a:lumOff val="5000"/>
                  </a:schemeClr>
                </a:solidFill>
                <a:effectLst/>
                <a:latin typeface="Times New Roman" panose="02020603050405020304" pitchFamily="18" charset="0"/>
                <a:cs typeface="Times New Roman" panose="02020603050405020304" pitchFamily="18" charset="0"/>
              </a:rPr>
              <a:t>Boukerche</a:t>
            </a:r>
            <a:r>
              <a:rPr lang="en-IN" i="0" dirty="0">
                <a:solidFill>
                  <a:schemeClr val="tx1">
                    <a:lumMod val="95000"/>
                    <a:lumOff val="5000"/>
                  </a:schemeClr>
                </a:solidFill>
                <a:effectLst/>
                <a:latin typeface="Times New Roman" panose="02020603050405020304" pitchFamily="18" charset="0"/>
                <a:cs typeface="Times New Roman" panose="02020603050405020304" pitchFamily="18" charset="0"/>
              </a:rPr>
              <a:t>, A. (2022). Driving </a:t>
            </a:r>
            <a:r>
              <a:rPr lang="en-IN" i="0" dirty="0" err="1">
                <a:solidFill>
                  <a:schemeClr val="tx1">
                    <a:lumMod val="95000"/>
                    <a:lumOff val="5000"/>
                  </a:schemeClr>
                </a:solidFill>
                <a:effectLst/>
                <a:latin typeface="Times New Roman" panose="02020603050405020304" pitchFamily="18" charset="0"/>
                <a:cs typeface="Times New Roman" panose="02020603050405020304" pitchFamily="18" charset="0"/>
              </a:rPr>
              <a:t>Behavior</a:t>
            </a:r>
            <a:r>
              <a:rPr lang="en-IN" i="0" dirty="0">
                <a:solidFill>
                  <a:schemeClr val="tx1">
                    <a:lumMod val="95000"/>
                    <a:lumOff val="5000"/>
                  </a:schemeClr>
                </a:solidFill>
                <a:effectLst/>
                <a:latin typeface="Times New Roman" panose="02020603050405020304" pitchFamily="18" charset="0"/>
                <a:cs typeface="Times New Roman" panose="02020603050405020304" pitchFamily="18" charset="0"/>
              </a:rPr>
              <a:t> Analysis Guidelines for Intelligent Transportation Systems. </a:t>
            </a:r>
            <a:r>
              <a:rPr lang="en-IN" i="1" dirty="0">
                <a:solidFill>
                  <a:schemeClr val="tx1">
                    <a:lumMod val="95000"/>
                    <a:lumOff val="5000"/>
                  </a:schemeClr>
                </a:solidFill>
                <a:effectLst/>
                <a:latin typeface="Times New Roman" panose="02020603050405020304" pitchFamily="18" charset="0"/>
                <a:cs typeface="Times New Roman" panose="02020603050405020304" pitchFamily="18" charset="0"/>
              </a:rPr>
              <a:t>IEEE Transactions on Intelligent Transportation Systems</a:t>
            </a:r>
            <a:r>
              <a:rPr lang="en-IN" i="0" dirty="0">
                <a:solidFill>
                  <a:schemeClr val="tx1">
                    <a:lumMod val="95000"/>
                    <a:lumOff val="5000"/>
                  </a:schemeClr>
                </a:solidFill>
                <a:effectLst/>
                <a:latin typeface="Times New Roman" panose="02020603050405020304" pitchFamily="18" charset="0"/>
                <a:cs typeface="Times New Roman" panose="02020603050405020304" pitchFamily="18" charset="0"/>
              </a:rPr>
              <a:t>.</a:t>
            </a:r>
          </a:p>
          <a:p>
            <a:pPr algn="just">
              <a:buFont typeface="+mj-lt"/>
              <a:buAutoNum type="arabicPeriod"/>
            </a:pPr>
            <a:r>
              <a:rPr lang="en-IN" i="0" dirty="0">
                <a:solidFill>
                  <a:schemeClr val="tx1">
                    <a:lumMod val="95000"/>
                    <a:lumOff val="5000"/>
                  </a:schemeClr>
                </a:solidFill>
                <a:effectLst/>
                <a:latin typeface="Times New Roman" panose="02020603050405020304" pitchFamily="18" charset="0"/>
                <a:cs typeface="Times New Roman" panose="02020603050405020304" pitchFamily="18" charset="0"/>
              </a:rPr>
              <a:t>Wang, Z., Luo, Y., &amp; </a:t>
            </a:r>
            <a:r>
              <a:rPr lang="en-IN" i="0" dirty="0" err="1">
                <a:solidFill>
                  <a:schemeClr val="tx1">
                    <a:lumMod val="95000"/>
                    <a:lumOff val="5000"/>
                  </a:schemeClr>
                </a:solidFill>
                <a:effectLst/>
                <a:latin typeface="Times New Roman" panose="02020603050405020304" pitchFamily="18" charset="0"/>
                <a:cs typeface="Times New Roman" panose="02020603050405020304" pitchFamily="18" charset="0"/>
              </a:rPr>
              <a:t>Kashevnik</a:t>
            </a:r>
            <a:r>
              <a:rPr lang="en-IN" i="0" dirty="0">
                <a:solidFill>
                  <a:schemeClr val="tx1">
                    <a:lumMod val="95000"/>
                    <a:lumOff val="5000"/>
                  </a:schemeClr>
                </a:solidFill>
                <a:effectLst/>
                <a:latin typeface="Times New Roman" panose="02020603050405020304" pitchFamily="18" charset="0"/>
                <a:cs typeface="Times New Roman" panose="02020603050405020304" pitchFamily="18" charset="0"/>
              </a:rPr>
              <a:t>, A. (2022). A Survey on Driver </a:t>
            </a:r>
            <a:r>
              <a:rPr lang="en-IN" i="0" dirty="0" err="1">
                <a:solidFill>
                  <a:schemeClr val="tx1">
                    <a:lumMod val="95000"/>
                    <a:lumOff val="5000"/>
                  </a:schemeClr>
                </a:solidFill>
                <a:effectLst/>
                <a:latin typeface="Times New Roman" panose="02020603050405020304" pitchFamily="18" charset="0"/>
                <a:cs typeface="Times New Roman" panose="02020603050405020304" pitchFamily="18" charset="0"/>
              </a:rPr>
              <a:t>Behavior</a:t>
            </a:r>
            <a:r>
              <a:rPr lang="en-IN" i="0" dirty="0">
                <a:solidFill>
                  <a:schemeClr val="tx1">
                    <a:lumMod val="95000"/>
                    <a:lumOff val="5000"/>
                  </a:schemeClr>
                </a:solidFill>
                <a:effectLst/>
                <a:latin typeface="Times New Roman" panose="02020603050405020304" pitchFamily="18" charset="0"/>
                <a:cs typeface="Times New Roman" panose="02020603050405020304" pitchFamily="18" charset="0"/>
              </a:rPr>
              <a:t> Analysis From In-Vehicle Cameras. </a:t>
            </a:r>
            <a:r>
              <a:rPr lang="en-IN" i="1" dirty="0">
                <a:solidFill>
                  <a:schemeClr val="tx1">
                    <a:lumMod val="95000"/>
                    <a:lumOff val="5000"/>
                  </a:schemeClr>
                </a:solidFill>
                <a:effectLst/>
                <a:latin typeface="Times New Roman" panose="02020603050405020304" pitchFamily="18" charset="0"/>
                <a:cs typeface="Times New Roman" panose="02020603050405020304" pitchFamily="18" charset="0"/>
              </a:rPr>
              <a:t>IEEE Transactions on Intelligent Vehicles</a:t>
            </a:r>
            <a:r>
              <a:rPr lang="en-IN" i="0" dirty="0">
                <a:solidFill>
                  <a:schemeClr val="tx1">
                    <a:lumMod val="95000"/>
                    <a:lumOff val="5000"/>
                  </a:schemeClr>
                </a:solidFill>
                <a:effectLst/>
                <a:latin typeface="Times New Roman" panose="02020603050405020304" pitchFamily="18" charset="0"/>
                <a:cs typeface="Times New Roman" panose="02020603050405020304" pitchFamily="18" charset="0"/>
              </a:rPr>
              <a:t>.</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44528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DA3608D-94E9-4AAD-A5EA-5FA84FDA5C9A}"/>
              </a:ext>
            </a:extLst>
          </p:cNvPr>
          <p:cNvSpPr>
            <a:spLocks noGrp="1"/>
          </p:cNvSpPr>
          <p:nvPr>
            <p:ph type="ftr" sz="quarter" idx="11"/>
          </p:nvPr>
        </p:nvSpPr>
        <p:spPr/>
        <p:txBody>
          <a:bodyPr/>
          <a:lstStyle/>
          <a:p>
            <a:r>
              <a:rPr lang="en-IN" b="1"/>
              <a:t>Leveraging Deep Learning for Intelligent Driver Behavior Analysis for Road Safety</a:t>
            </a:r>
          </a:p>
        </p:txBody>
      </p:sp>
      <p:sp>
        <p:nvSpPr>
          <p:cNvPr id="5" name="Slide Number Placeholder 4">
            <a:extLst>
              <a:ext uri="{FF2B5EF4-FFF2-40B4-BE49-F238E27FC236}">
                <a16:creationId xmlns:a16="http://schemas.microsoft.com/office/drawing/2014/main" id="{65CF1BD0-B6A6-4731-B9AE-FDB0A9188360}"/>
              </a:ext>
            </a:extLst>
          </p:cNvPr>
          <p:cNvSpPr>
            <a:spLocks noGrp="1"/>
          </p:cNvSpPr>
          <p:nvPr>
            <p:ph type="sldNum" sz="quarter" idx="12"/>
          </p:nvPr>
        </p:nvSpPr>
        <p:spPr/>
        <p:txBody>
          <a:bodyPr/>
          <a:lstStyle/>
          <a:p>
            <a:fld id="{9D3FF152-60F5-4862-82F9-1190556AA56F}" type="slidenum">
              <a:rPr lang="en-IN" smtClean="0"/>
              <a:t>27</a:t>
            </a:fld>
            <a:endParaRPr lang="en-IN"/>
          </a:p>
        </p:txBody>
      </p:sp>
      <p:sp>
        <p:nvSpPr>
          <p:cNvPr id="6" name="Title 1">
            <a:extLst>
              <a:ext uri="{FF2B5EF4-FFF2-40B4-BE49-F238E27FC236}">
                <a16:creationId xmlns:a16="http://schemas.microsoft.com/office/drawing/2014/main" id="{51270956-164D-4AAA-9669-F5ED585ECA28}"/>
              </a:ext>
            </a:extLst>
          </p:cNvPr>
          <p:cNvSpPr>
            <a:spLocks noGrp="1"/>
          </p:cNvSpPr>
          <p:nvPr>
            <p:ph type="title"/>
          </p:nvPr>
        </p:nvSpPr>
        <p:spPr>
          <a:xfrm>
            <a:off x="628650" y="165991"/>
            <a:ext cx="7886700" cy="530258"/>
          </a:xfrm>
        </p:spPr>
        <p:txBody>
          <a:bodyPr>
            <a:noAutofit/>
          </a:bodyPr>
          <a:lstStyle/>
          <a:p>
            <a:pPr algn="ctr"/>
            <a:r>
              <a:rPr lang="en-US" b="1" dirty="0">
                <a:solidFill>
                  <a:srgbClr val="7030A0"/>
                </a:solidFill>
                <a:latin typeface="Times New Roman" panose="02020603050405020304" pitchFamily="18" charset="0"/>
                <a:cs typeface="Times New Roman" panose="02020603050405020304" pitchFamily="18" charset="0"/>
              </a:rPr>
              <a:t>Reference Paper/ URL</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0D99667-4999-4276-BB1E-2E13EEFF3801}"/>
              </a:ext>
            </a:extLst>
          </p:cNvPr>
          <p:cNvSpPr txBox="1"/>
          <p:nvPr/>
        </p:nvSpPr>
        <p:spPr>
          <a:xfrm>
            <a:off x="220337" y="1178805"/>
            <a:ext cx="8582140" cy="4524315"/>
          </a:xfrm>
          <a:prstGeom prst="rect">
            <a:avLst/>
          </a:prstGeom>
          <a:noFill/>
        </p:spPr>
        <p:txBody>
          <a:bodyPr wrap="square" rtlCol="0">
            <a:spAutoFit/>
          </a:bodyPr>
          <a:lstStyle/>
          <a:p>
            <a:pPr algn="just"/>
            <a:r>
              <a:rPr lang="en-IN" i="0" dirty="0">
                <a:solidFill>
                  <a:schemeClr val="tx1">
                    <a:lumMod val="95000"/>
                    <a:lumOff val="5000"/>
                  </a:schemeClr>
                </a:solidFill>
                <a:effectLst/>
                <a:latin typeface="Times New Roman" panose="02020603050405020304" pitchFamily="18" charset="0"/>
                <a:cs typeface="Times New Roman" panose="02020603050405020304" pitchFamily="18" charset="0"/>
              </a:rPr>
              <a:t>6.Luo, Y., Chai, W., &amp; Rahim, M.A. (2022). Detecting Driver Cognition Alertness State From Visual Activities in Normal and Emergency Scenarios. </a:t>
            </a:r>
            <a:r>
              <a:rPr lang="en-IN" i="1" dirty="0">
                <a:solidFill>
                  <a:schemeClr val="tx1">
                    <a:lumMod val="95000"/>
                    <a:lumOff val="5000"/>
                  </a:schemeClr>
                </a:solidFill>
                <a:effectLst/>
                <a:latin typeface="Times New Roman" panose="02020603050405020304" pitchFamily="18" charset="0"/>
                <a:cs typeface="Times New Roman" panose="02020603050405020304" pitchFamily="18" charset="0"/>
              </a:rPr>
              <a:t>IEEE Transactions on Intelligent Transportation Systems</a:t>
            </a:r>
            <a:endPar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endParaRPr>
          </a:p>
          <a:p>
            <a:pPr algn="just"/>
            <a:r>
              <a:rPr lang="en-IN" i="0" dirty="0">
                <a:solidFill>
                  <a:schemeClr val="tx1">
                    <a:lumMod val="95000"/>
                    <a:lumOff val="5000"/>
                  </a:schemeClr>
                </a:solidFill>
                <a:effectLst/>
                <a:latin typeface="Times New Roman" panose="02020603050405020304" pitchFamily="18" charset="0"/>
                <a:cs typeface="Times New Roman" panose="02020603050405020304" pitchFamily="18" charset="0"/>
              </a:rPr>
              <a:t>7.Kashevnik, A., Rahim, M.A., &amp; Chai, W. (2020). Methodology and Mobile Application for Driver </a:t>
            </a:r>
            <a:r>
              <a:rPr lang="en-IN" i="0" dirty="0" err="1">
                <a:solidFill>
                  <a:schemeClr val="tx1">
                    <a:lumMod val="95000"/>
                    <a:lumOff val="5000"/>
                  </a:schemeClr>
                </a:solidFill>
                <a:effectLst/>
                <a:latin typeface="Times New Roman" panose="02020603050405020304" pitchFamily="18" charset="0"/>
                <a:cs typeface="Times New Roman" panose="02020603050405020304" pitchFamily="18" charset="0"/>
              </a:rPr>
              <a:t>Behavior</a:t>
            </a:r>
            <a:r>
              <a:rPr lang="en-IN" i="0" dirty="0">
                <a:solidFill>
                  <a:schemeClr val="tx1">
                    <a:lumMod val="95000"/>
                    <a:lumOff val="5000"/>
                  </a:schemeClr>
                </a:solidFill>
                <a:effectLst/>
                <a:latin typeface="Times New Roman" panose="02020603050405020304" pitchFamily="18" charset="0"/>
                <a:cs typeface="Times New Roman" panose="02020603050405020304" pitchFamily="18" charset="0"/>
              </a:rPr>
              <a:t> Analysis and Accident Prevention. </a:t>
            </a:r>
            <a:r>
              <a:rPr lang="en-IN" i="1" dirty="0">
                <a:solidFill>
                  <a:schemeClr val="tx1">
                    <a:lumMod val="95000"/>
                    <a:lumOff val="5000"/>
                  </a:schemeClr>
                </a:solidFill>
                <a:effectLst/>
                <a:latin typeface="Times New Roman" panose="02020603050405020304" pitchFamily="18" charset="0"/>
                <a:cs typeface="Times New Roman" panose="02020603050405020304" pitchFamily="18" charset="0"/>
              </a:rPr>
              <a:t>IEEE Transactions on Intelligent Transportation Systems</a:t>
            </a:r>
            <a:r>
              <a:rPr lang="en-IN" i="0" dirty="0">
                <a:solidFill>
                  <a:schemeClr val="tx1">
                    <a:lumMod val="95000"/>
                    <a:lumOff val="5000"/>
                  </a:schemeClr>
                </a:solidFill>
                <a:effectLst/>
                <a:latin typeface="Times New Roman" panose="02020603050405020304" pitchFamily="18" charset="0"/>
                <a:cs typeface="Times New Roman" panose="02020603050405020304" pitchFamily="18" charset="0"/>
              </a:rPr>
              <a:t>.</a:t>
            </a:r>
          </a:p>
          <a:p>
            <a:pPr algn="just"/>
            <a:r>
              <a:rPr lang="en-IN" i="0" dirty="0">
                <a:solidFill>
                  <a:schemeClr val="tx1">
                    <a:lumMod val="95000"/>
                    <a:lumOff val="5000"/>
                  </a:schemeClr>
                </a:solidFill>
                <a:effectLst/>
                <a:latin typeface="Times New Roman" panose="02020603050405020304" pitchFamily="18" charset="0"/>
                <a:cs typeface="Times New Roman" panose="02020603050405020304" pitchFamily="18" charset="0"/>
              </a:rPr>
              <a:t>8.Chai, W., Lu, C., &amp; </a:t>
            </a:r>
            <a:r>
              <a:rPr lang="en-IN" i="0" dirty="0" err="1">
                <a:solidFill>
                  <a:schemeClr val="tx1">
                    <a:lumMod val="95000"/>
                    <a:lumOff val="5000"/>
                  </a:schemeClr>
                </a:solidFill>
                <a:effectLst/>
                <a:latin typeface="Times New Roman" panose="02020603050405020304" pitchFamily="18" charset="0"/>
                <a:cs typeface="Times New Roman" panose="02020603050405020304" pitchFamily="18" charset="0"/>
              </a:rPr>
              <a:t>Azadani</a:t>
            </a:r>
            <a:r>
              <a:rPr lang="en-IN" i="0" dirty="0">
                <a:solidFill>
                  <a:schemeClr val="tx1">
                    <a:lumMod val="95000"/>
                    <a:lumOff val="5000"/>
                  </a:schemeClr>
                </a:solidFill>
                <a:effectLst/>
                <a:latin typeface="Times New Roman" panose="02020603050405020304" pitchFamily="18" charset="0"/>
                <a:cs typeface="Times New Roman" panose="02020603050405020304" pitchFamily="18" charset="0"/>
              </a:rPr>
              <a:t>, M.N. (2024). Rethinking the Evaluation of Driver </a:t>
            </a:r>
            <a:r>
              <a:rPr lang="en-IN" i="0" dirty="0" err="1">
                <a:solidFill>
                  <a:schemeClr val="tx1">
                    <a:lumMod val="95000"/>
                    <a:lumOff val="5000"/>
                  </a:schemeClr>
                </a:solidFill>
                <a:effectLst/>
                <a:latin typeface="Times New Roman" panose="02020603050405020304" pitchFamily="18" charset="0"/>
                <a:cs typeface="Times New Roman" panose="02020603050405020304" pitchFamily="18" charset="0"/>
              </a:rPr>
              <a:t>Behavior</a:t>
            </a:r>
            <a:r>
              <a:rPr lang="en-IN" i="0" dirty="0">
                <a:solidFill>
                  <a:schemeClr val="tx1">
                    <a:lumMod val="95000"/>
                    <a:lumOff val="5000"/>
                  </a:schemeClr>
                </a:solidFill>
                <a:effectLst/>
                <a:latin typeface="Times New Roman" panose="02020603050405020304" pitchFamily="18" charset="0"/>
                <a:cs typeface="Times New Roman" panose="02020603050405020304" pitchFamily="18" charset="0"/>
              </a:rPr>
              <a:t> Analysis Approaches. </a:t>
            </a:r>
            <a:r>
              <a:rPr lang="en-IN" i="1" dirty="0">
                <a:solidFill>
                  <a:schemeClr val="tx1">
                    <a:lumMod val="95000"/>
                    <a:lumOff val="5000"/>
                  </a:schemeClr>
                </a:solidFill>
                <a:effectLst/>
                <a:latin typeface="Times New Roman" panose="02020603050405020304" pitchFamily="18" charset="0"/>
                <a:cs typeface="Times New Roman" panose="02020603050405020304" pitchFamily="18" charset="0"/>
              </a:rPr>
              <a:t>IEEE Transactions on Intelligent Transportation Systems</a:t>
            </a:r>
            <a:r>
              <a:rPr lang="en-IN" i="0" dirty="0">
                <a:solidFill>
                  <a:schemeClr val="tx1">
                    <a:lumMod val="95000"/>
                    <a:lumOff val="5000"/>
                  </a:schemeClr>
                </a:solidFill>
                <a:effectLst/>
                <a:latin typeface="Times New Roman" panose="02020603050405020304" pitchFamily="18" charset="0"/>
                <a:cs typeface="Times New Roman" panose="02020603050405020304" pitchFamily="18" charset="0"/>
              </a:rPr>
              <a:t>.</a:t>
            </a:r>
          </a:p>
          <a:p>
            <a:pPr algn="just"/>
            <a:r>
              <a:rPr lang="en-IN" i="0" dirty="0">
                <a:solidFill>
                  <a:schemeClr val="tx1">
                    <a:lumMod val="95000"/>
                    <a:lumOff val="5000"/>
                  </a:schemeClr>
                </a:solidFill>
                <a:effectLst/>
                <a:latin typeface="Times New Roman" panose="02020603050405020304" pitchFamily="18" charset="0"/>
                <a:cs typeface="Times New Roman" panose="02020603050405020304" pitchFamily="18" charset="0"/>
              </a:rPr>
              <a:t>9.Lu, C., Wang, Z., &amp; Zhou, D. (2020). Transfer Learning for Driver Model Adaptation in Lane-Changing Scenarios Using Manifold Alignment. </a:t>
            </a:r>
            <a:r>
              <a:rPr lang="en-IN" i="1" dirty="0">
                <a:solidFill>
                  <a:schemeClr val="tx1">
                    <a:lumMod val="95000"/>
                    <a:lumOff val="5000"/>
                  </a:schemeClr>
                </a:solidFill>
                <a:effectLst/>
                <a:latin typeface="Times New Roman" panose="02020603050405020304" pitchFamily="18" charset="0"/>
                <a:cs typeface="Times New Roman" panose="02020603050405020304" pitchFamily="18" charset="0"/>
              </a:rPr>
              <a:t>IEEE Transactions on Intelligent Transportation Systems</a:t>
            </a:r>
            <a:r>
              <a:rPr lang="en-IN" i="0" dirty="0">
                <a:solidFill>
                  <a:schemeClr val="tx1">
                    <a:lumMod val="95000"/>
                    <a:lumOff val="5000"/>
                  </a:schemeClr>
                </a:solidFill>
                <a:effectLst/>
                <a:latin typeface="Times New Roman" panose="02020603050405020304" pitchFamily="18" charset="0"/>
                <a:cs typeface="Times New Roman" panose="02020603050405020304" pitchFamily="18" charset="0"/>
              </a:rPr>
              <a:t>.</a:t>
            </a:r>
          </a:p>
          <a:p>
            <a:pPr algn="just"/>
            <a:r>
              <a:rPr lang="en-IN" i="0" dirty="0">
                <a:solidFill>
                  <a:schemeClr val="tx1">
                    <a:lumMod val="95000"/>
                    <a:lumOff val="5000"/>
                  </a:schemeClr>
                </a:solidFill>
                <a:effectLst/>
                <a:latin typeface="Times New Roman" panose="02020603050405020304" pitchFamily="18" charset="0"/>
                <a:cs typeface="Times New Roman" panose="02020603050405020304" pitchFamily="18" charset="0"/>
              </a:rPr>
              <a:t>10.Rahim, M.A., </a:t>
            </a:r>
            <a:r>
              <a:rPr lang="en-IN" i="0" dirty="0" err="1">
                <a:solidFill>
                  <a:schemeClr val="tx1">
                    <a:lumMod val="95000"/>
                    <a:lumOff val="5000"/>
                  </a:schemeClr>
                </a:solidFill>
                <a:effectLst/>
                <a:latin typeface="Times New Roman" panose="02020603050405020304" pitchFamily="18" charset="0"/>
                <a:cs typeface="Times New Roman" panose="02020603050405020304" pitchFamily="18" charset="0"/>
              </a:rPr>
              <a:t>Azadani</a:t>
            </a:r>
            <a:r>
              <a:rPr lang="en-IN" i="0" dirty="0">
                <a:solidFill>
                  <a:schemeClr val="tx1">
                    <a:lumMod val="95000"/>
                    <a:lumOff val="5000"/>
                  </a:schemeClr>
                </a:solidFill>
                <a:effectLst/>
                <a:latin typeface="Times New Roman" panose="02020603050405020304" pitchFamily="18" charset="0"/>
                <a:cs typeface="Times New Roman" panose="02020603050405020304" pitchFamily="18" charset="0"/>
              </a:rPr>
              <a:t>, M.N., &amp; </a:t>
            </a:r>
            <a:r>
              <a:rPr lang="en-IN" i="0" dirty="0" err="1">
                <a:solidFill>
                  <a:schemeClr val="tx1">
                    <a:lumMod val="95000"/>
                    <a:lumOff val="5000"/>
                  </a:schemeClr>
                </a:solidFill>
                <a:effectLst/>
                <a:latin typeface="Times New Roman" panose="02020603050405020304" pitchFamily="18" charset="0"/>
                <a:cs typeface="Times New Roman" panose="02020603050405020304" pitchFamily="18" charset="0"/>
              </a:rPr>
              <a:t>Boukerche</a:t>
            </a:r>
            <a:r>
              <a:rPr lang="en-IN" i="0" dirty="0">
                <a:solidFill>
                  <a:schemeClr val="tx1">
                    <a:lumMod val="95000"/>
                    <a:lumOff val="5000"/>
                  </a:schemeClr>
                </a:solidFill>
                <a:effectLst/>
                <a:latin typeface="Times New Roman" panose="02020603050405020304" pitchFamily="18" charset="0"/>
                <a:cs typeface="Times New Roman" panose="02020603050405020304" pitchFamily="18" charset="0"/>
              </a:rPr>
              <a:t>, A. (2020). Zero-to-Stable Driver Identification: A Non-Intrusive and Scalable Driver Identification Scheme. </a:t>
            </a:r>
            <a:r>
              <a:rPr lang="en-IN" i="1" dirty="0">
                <a:solidFill>
                  <a:schemeClr val="tx1">
                    <a:lumMod val="95000"/>
                    <a:lumOff val="5000"/>
                  </a:schemeClr>
                </a:solidFill>
                <a:effectLst/>
                <a:latin typeface="Times New Roman" panose="02020603050405020304" pitchFamily="18" charset="0"/>
                <a:cs typeface="Times New Roman" panose="02020603050405020304" pitchFamily="18" charset="0"/>
              </a:rPr>
              <a:t>IEEE Transactions on Vehicular Technology</a:t>
            </a:r>
            <a:r>
              <a:rPr lang="en-IN" i="0" dirty="0">
                <a:solidFill>
                  <a:schemeClr val="tx1">
                    <a:lumMod val="95000"/>
                    <a:lumOff val="5000"/>
                  </a:schemeClr>
                </a:solidFill>
                <a:effectLst/>
                <a:latin typeface="Times New Roman" panose="02020603050405020304" pitchFamily="18" charset="0"/>
                <a:cs typeface="Times New Roman" panose="02020603050405020304" pitchFamily="18" charset="0"/>
              </a:rPr>
              <a:t>.</a:t>
            </a:r>
          </a:p>
          <a:p>
            <a:pPr algn="just"/>
            <a:br>
              <a:rPr lang="en-IN" dirty="0">
                <a:solidFill>
                  <a:schemeClr val="tx1">
                    <a:lumMod val="95000"/>
                    <a:lumOff val="5000"/>
                  </a:schemeClr>
                </a:solidFill>
                <a:latin typeface="Times New Roman" panose="02020603050405020304" pitchFamily="18" charset="0"/>
                <a:cs typeface="Times New Roman" panose="02020603050405020304" pitchFamily="18" charset="0"/>
              </a:rPr>
            </a:br>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6228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82DDD-5778-A4D7-4A25-00A8D5111ED1}"/>
              </a:ext>
            </a:extLst>
          </p:cNvPr>
          <p:cNvSpPr>
            <a:spLocks noGrp="1"/>
          </p:cNvSpPr>
          <p:nvPr>
            <p:ph type="title"/>
          </p:nvPr>
        </p:nvSpPr>
        <p:spPr/>
        <p:txBody>
          <a:bodyPr>
            <a:normAutofit fontScale="90000"/>
          </a:bodyPr>
          <a:lstStyle/>
          <a:p>
            <a:pPr algn="ctr"/>
            <a:r>
              <a:rPr lang="en-US" sz="4400" b="1" dirty="0">
                <a:solidFill>
                  <a:srgbClr val="7030A0"/>
                </a:solidFill>
                <a:latin typeface="Times New Roman" panose="02020603050405020304" pitchFamily="18" charset="0"/>
                <a:cs typeface="Times New Roman" panose="02020603050405020304" pitchFamily="18" charset="0"/>
              </a:rPr>
              <a:t>Conference / Publication / Patent Certificate/ Project Contest  Winner Certificates</a:t>
            </a:r>
            <a:endParaRPr lang="en-IN" dirty="0"/>
          </a:p>
        </p:txBody>
      </p:sp>
      <p:sp>
        <p:nvSpPr>
          <p:cNvPr id="4" name="Footer Placeholder 3">
            <a:extLst>
              <a:ext uri="{FF2B5EF4-FFF2-40B4-BE49-F238E27FC236}">
                <a16:creationId xmlns:a16="http://schemas.microsoft.com/office/drawing/2014/main" id="{4DA5EF4A-F12C-71BF-266B-BBBB9E330807}"/>
              </a:ext>
            </a:extLst>
          </p:cNvPr>
          <p:cNvSpPr>
            <a:spLocks noGrp="1"/>
          </p:cNvSpPr>
          <p:nvPr>
            <p:ph type="ftr" sz="quarter" idx="11"/>
          </p:nvPr>
        </p:nvSpPr>
        <p:spPr/>
        <p:txBody>
          <a:bodyPr/>
          <a:lstStyle/>
          <a:p>
            <a:r>
              <a:rPr lang="en-IN"/>
              <a:t>Leveraging Deep Learning for Intelligent Driver Behavior Analysis for Road Safety</a:t>
            </a:r>
          </a:p>
        </p:txBody>
      </p:sp>
      <p:sp>
        <p:nvSpPr>
          <p:cNvPr id="5" name="Slide Number Placeholder 4">
            <a:extLst>
              <a:ext uri="{FF2B5EF4-FFF2-40B4-BE49-F238E27FC236}">
                <a16:creationId xmlns:a16="http://schemas.microsoft.com/office/drawing/2014/main" id="{DEDB0D4D-BCD4-E615-A862-BA2267A5E2AC}"/>
              </a:ext>
            </a:extLst>
          </p:cNvPr>
          <p:cNvSpPr>
            <a:spLocks noGrp="1"/>
          </p:cNvSpPr>
          <p:nvPr>
            <p:ph type="sldNum" sz="quarter" idx="12"/>
          </p:nvPr>
        </p:nvSpPr>
        <p:spPr/>
        <p:txBody>
          <a:bodyPr/>
          <a:lstStyle/>
          <a:p>
            <a:fld id="{9D3FF152-60F5-4862-82F9-1190556AA56F}" type="slidenum">
              <a:rPr lang="en-IN" smtClean="0"/>
              <a:t>28</a:t>
            </a:fld>
            <a:endParaRPr lang="en-IN"/>
          </a:p>
        </p:txBody>
      </p:sp>
      <p:pic>
        <p:nvPicPr>
          <p:cNvPr id="6" name="Content Placeholder 5">
            <a:extLst>
              <a:ext uri="{FF2B5EF4-FFF2-40B4-BE49-F238E27FC236}">
                <a16:creationId xmlns:a16="http://schemas.microsoft.com/office/drawing/2014/main" id="{88AD491F-35A7-852D-7A11-BB8E21696A70}"/>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874389" y="2093431"/>
            <a:ext cx="5617791" cy="3815726"/>
          </a:xfrm>
          <a:prstGeom prst="rect">
            <a:avLst/>
          </a:prstGeom>
          <a:noFill/>
          <a:ln>
            <a:noFill/>
          </a:ln>
        </p:spPr>
      </p:pic>
    </p:spTree>
    <p:extLst>
      <p:ext uri="{BB962C8B-B14F-4D97-AF65-F5344CB8AC3E}">
        <p14:creationId xmlns:p14="http://schemas.microsoft.com/office/powerpoint/2010/main" val="4513928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5DD95-46D3-7C38-EE39-9DD642B5A165}"/>
              </a:ext>
            </a:extLst>
          </p:cNvPr>
          <p:cNvSpPr>
            <a:spLocks noGrp="1"/>
          </p:cNvSpPr>
          <p:nvPr>
            <p:ph type="title"/>
          </p:nvPr>
        </p:nvSpPr>
        <p:spPr/>
        <p:txBody>
          <a:bodyPr>
            <a:normAutofit fontScale="90000"/>
          </a:bodyPr>
          <a:lstStyle/>
          <a:p>
            <a:pPr algn="ctr"/>
            <a:r>
              <a:rPr lang="en-US" sz="4400" b="1" dirty="0">
                <a:solidFill>
                  <a:srgbClr val="7030A0"/>
                </a:solidFill>
                <a:latin typeface="Times New Roman" panose="02020603050405020304" pitchFamily="18" charset="0"/>
                <a:cs typeface="Times New Roman" panose="02020603050405020304" pitchFamily="18" charset="0"/>
              </a:rPr>
              <a:t>Conference / Publication / Patent Certificate/ Project Contest  Winner Certificates</a:t>
            </a:r>
            <a:endParaRPr lang="en-IN" dirty="0"/>
          </a:p>
        </p:txBody>
      </p:sp>
      <p:sp>
        <p:nvSpPr>
          <p:cNvPr id="4" name="Footer Placeholder 3">
            <a:extLst>
              <a:ext uri="{FF2B5EF4-FFF2-40B4-BE49-F238E27FC236}">
                <a16:creationId xmlns:a16="http://schemas.microsoft.com/office/drawing/2014/main" id="{23AC75C5-5B77-E024-C065-6CADE903ED24}"/>
              </a:ext>
            </a:extLst>
          </p:cNvPr>
          <p:cNvSpPr>
            <a:spLocks noGrp="1"/>
          </p:cNvSpPr>
          <p:nvPr>
            <p:ph type="ftr" sz="quarter" idx="11"/>
          </p:nvPr>
        </p:nvSpPr>
        <p:spPr/>
        <p:txBody>
          <a:bodyPr/>
          <a:lstStyle/>
          <a:p>
            <a:r>
              <a:rPr lang="en-IN"/>
              <a:t>Leveraging Deep Learning for Intelligent Driver Behavior Analysis for Road Safety</a:t>
            </a:r>
          </a:p>
        </p:txBody>
      </p:sp>
      <p:sp>
        <p:nvSpPr>
          <p:cNvPr id="5" name="Slide Number Placeholder 4">
            <a:extLst>
              <a:ext uri="{FF2B5EF4-FFF2-40B4-BE49-F238E27FC236}">
                <a16:creationId xmlns:a16="http://schemas.microsoft.com/office/drawing/2014/main" id="{BBC9416A-BF4A-57DD-4332-BB79F4C00FD0}"/>
              </a:ext>
            </a:extLst>
          </p:cNvPr>
          <p:cNvSpPr>
            <a:spLocks noGrp="1"/>
          </p:cNvSpPr>
          <p:nvPr>
            <p:ph type="sldNum" sz="quarter" idx="12"/>
          </p:nvPr>
        </p:nvSpPr>
        <p:spPr/>
        <p:txBody>
          <a:bodyPr/>
          <a:lstStyle/>
          <a:p>
            <a:fld id="{9D3FF152-60F5-4862-82F9-1190556AA56F}" type="slidenum">
              <a:rPr lang="en-IN" smtClean="0"/>
              <a:t>29</a:t>
            </a:fld>
            <a:endParaRPr lang="en-IN"/>
          </a:p>
        </p:txBody>
      </p:sp>
      <p:pic>
        <p:nvPicPr>
          <p:cNvPr id="6" name="Picture 5">
            <a:extLst>
              <a:ext uri="{FF2B5EF4-FFF2-40B4-BE49-F238E27FC236}">
                <a16:creationId xmlns:a16="http://schemas.microsoft.com/office/drawing/2014/main" id="{685D2B5D-2DE4-B7A7-78AD-B19A1A617C8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54480" y="2187841"/>
            <a:ext cx="6035040" cy="3799840"/>
          </a:xfrm>
          <a:prstGeom prst="rect">
            <a:avLst/>
          </a:prstGeom>
          <a:noFill/>
          <a:ln>
            <a:noFill/>
          </a:ln>
        </p:spPr>
      </p:pic>
    </p:spTree>
    <p:extLst>
      <p:ext uri="{BB962C8B-B14F-4D97-AF65-F5344CB8AC3E}">
        <p14:creationId xmlns:p14="http://schemas.microsoft.com/office/powerpoint/2010/main" val="234022877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1272</TotalTime>
  <Words>2541</Words>
  <Application>Microsoft Office PowerPoint</Application>
  <PresentationFormat>On-screen Show (4:3)</PresentationFormat>
  <Paragraphs>306</Paragraphs>
  <Slides>29</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Arial</vt:lpstr>
      <vt:lpstr>Calibri</vt:lpstr>
      <vt:lpstr>Calibri Light</vt:lpstr>
      <vt:lpstr>Courier New</vt:lpstr>
      <vt:lpstr>Symbol</vt:lpstr>
      <vt:lpstr>Times New Roman</vt:lpstr>
      <vt:lpstr>Wingdings</vt:lpstr>
      <vt:lpstr>Office Theme</vt:lpstr>
      <vt:lpstr>PowerPoint Presentation</vt:lpstr>
      <vt:lpstr>Abstract</vt:lpstr>
      <vt:lpstr>Introduction</vt:lpstr>
      <vt:lpstr>Objective of the Project</vt:lpstr>
      <vt:lpstr>Literature Survey</vt:lpstr>
      <vt:lpstr>Literature Survey</vt:lpstr>
      <vt:lpstr>Literature Survey</vt:lpstr>
      <vt:lpstr>Literature Survey</vt:lpstr>
      <vt:lpstr>Problem Statement</vt:lpstr>
      <vt:lpstr>Proposed System</vt:lpstr>
      <vt:lpstr>Software / Hardware used</vt:lpstr>
      <vt:lpstr>Architecture / Methodology used</vt:lpstr>
      <vt:lpstr>System Design - Flow Chart/DFD/ER </vt:lpstr>
      <vt:lpstr>System Design - Flow Chart/DFD/ER </vt:lpstr>
      <vt:lpstr>System Design - Flow Chart/DFD/ER </vt:lpstr>
      <vt:lpstr>Module Description</vt:lpstr>
      <vt:lpstr>Module Description</vt:lpstr>
      <vt:lpstr>Module Description</vt:lpstr>
      <vt:lpstr>Module Description</vt:lpstr>
      <vt:lpstr>Testing /Performance Evaluation / Results</vt:lpstr>
      <vt:lpstr>Testing /Performance Evaluation / Results</vt:lpstr>
      <vt:lpstr>Screen Shots</vt:lpstr>
      <vt:lpstr>Screen Shots</vt:lpstr>
      <vt:lpstr>Conclusion / Feature Enhancement</vt:lpstr>
      <vt:lpstr>Conclusion / Feature Enhancement</vt:lpstr>
      <vt:lpstr>Reference Paper/ URL</vt:lpstr>
      <vt:lpstr>Reference Paper/ URL</vt:lpstr>
      <vt:lpstr>Conference / Publication / Patent Certificate/ Project Contest  Winner Certificates</vt:lpstr>
      <vt:lpstr>Conference / Publication / Patent Certificate/ Project Contest  Winner Certificates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SENTHILKUMAR G</dc:creator>
  <cp:lastModifiedBy>MANDY MANOOJ</cp:lastModifiedBy>
  <cp:revision>37</cp:revision>
  <dcterms:created xsi:type="dcterms:W3CDTF">2020-12-27T14:21:20Z</dcterms:created>
  <dcterms:modified xsi:type="dcterms:W3CDTF">2025-04-03T01:10:37Z</dcterms:modified>
</cp:coreProperties>
</file>